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4823" r:id="rId2"/>
    <p:sldId id="4775" r:id="rId3"/>
    <p:sldId id="4796" r:id="rId4"/>
    <p:sldId id="4800" r:id="rId5"/>
    <p:sldId id="4797" r:id="rId6"/>
    <p:sldId id="4798" r:id="rId7"/>
    <p:sldId id="4799" r:id="rId8"/>
    <p:sldId id="4801" r:id="rId9"/>
    <p:sldId id="4802" r:id="rId10"/>
    <p:sldId id="4803" r:id="rId11"/>
    <p:sldId id="4804" r:id="rId12"/>
    <p:sldId id="4805" r:id="rId13"/>
    <p:sldId id="4806" r:id="rId14"/>
    <p:sldId id="4807" r:id="rId15"/>
    <p:sldId id="4808" r:id="rId16"/>
    <p:sldId id="4809" r:id="rId17"/>
    <p:sldId id="4810" r:id="rId18"/>
    <p:sldId id="4811" r:id="rId19"/>
    <p:sldId id="4812" r:id="rId20"/>
    <p:sldId id="4813" r:id="rId21"/>
    <p:sldId id="4814" r:id="rId22"/>
    <p:sldId id="4815" r:id="rId23"/>
    <p:sldId id="4816" r:id="rId24"/>
    <p:sldId id="4817" r:id="rId25"/>
    <p:sldId id="4818" r:id="rId26"/>
    <p:sldId id="4819" r:id="rId27"/>
    <p:sldId id="4820" r:id="rId28"/>
    <p:sldId id="4821" r:id="rId29"/>
    <p:sldId id="4822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A4ADFA-AD07-48B2-B3E3-62CCB06728F4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0C1EE2-25A3-44A3-A5A2-300674DF7A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1751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7838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E03AB-76B1-584F-8D6D-3FFF7370D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E986A2-13D8-3006-3819-B5A8452B18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0A3F5B-C501-50DB-01B8-55ACA61059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F610D6-EE31-9C1D-A693-B5FD6EED4F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4390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1FF5A-0879-6784-2670-05FE103ED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4D2165-6EEC-5F99-6D37-1343D79E2A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2566D6-A24F-0034-901E-3B77711793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85F0E8-E572-61FC-4C67-E50F453AFD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89031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BA98C-056A-1262-CCBB-BA5527271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44444A-8C7E-7613-E325-9299FDFB1D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CA71B1-BA67-C985-2740-2E7B10958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AB7C8-4F58-D8A4-836E-8C82B9C7B1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89541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B45B1-835D-C294-8655-B1D5DD267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59AECD-63C9-C72E-36F3-A4D59DBBB5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CD5097-E8EB-42AD-5990-F1A4D98CCD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7CCDD-A81F-876E-8CDA-BD70DACECF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57114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7774D-84BD-3E9F-B527-3407E7034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B4B398-76EC-241B-EB24-11C70DABA7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A4CD8F-131C-2000-83CA-78EC35AA4E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26537-C696-6938-FA2C-5B3AE51E94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18426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D834D-55A1-2578-D75B-D3E612AD1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5F5926-B4B0-D19C-A49D-FAC75F140B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CDE6B7-60F0-6F72-AC40-ED60E06954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C1E658-F9A9-D47C-724A-3D3D08A43E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483372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78385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F7AB0-0847-FB6F-F0FA-ACC6B0E5E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04DFDF-B2F1-6750-08AF-ADD7B8A705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352EC3-7F9A-62A5-EBE2-CE0FE40A4F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864AC5-A8B8-695D-6779-ABBB9AF985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24946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080AC-F557-7A4E-CE62-3B2E5C614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983B0E-9BFF-1E0B-B1FD-3B91B62619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87D9F4-48EC-2095-B8B6-EE02373384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5CF299-78FB-D3C4-5FD2-748752179B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76964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2853D-8415-5D34-96FB-7A6837AB8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1861FE-4016-02A8-5A03-696C446B40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E43801-9F33-29ED-2E75-5B86B16B04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80C750-8797-94AB-03CE-029DDAD873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068604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78385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B1232-349C-48F8-9BC7-4B5707BFA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ED4E24-3FE1-155A-7CC6-DE4529635D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4FFCE3-560D-7C8C-1D5E-DD9E7E08CD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81D200-9894-5590-8E34-C4399612F9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34838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D4B9D-2226-F2BB-043F-B12388552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EDB211-1DEA-1C65-DC04-31220420AB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E415E8-EF71-8BA7-D620-DEF75FA9B5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F2EF71-DA25-514F-6671-FA0B269732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99933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95AB0-634A-DA5D-B739-12EE6B573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B6DB37-34FA-9B36-9FF0-01F348962D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34EB5B-A2DE-DF27-C52B-41865C4AC9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21314-A847-DEC9-C074-EA96FA2A83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36874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9F88B-E242-0313-D690-30B9B17CF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9AE30A-E9F4-A8AE-1652-FCFC19E9AC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5FEA4-EBDA-AAA5-7733-A920CB36A7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A18A52-51A7-81B3-52AF-7E0E091DC6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19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17069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78385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5C678-B45A-CB3B-54E1-C914A1A5E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91F62E-BBCE-B122-2059-2A8C8104DD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90E9A1-7AFF-AFF7-3D16-4A11B15A5B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02CDC8-E5C1-C82F-DE84-EE858E0E79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22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15413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8B775-5930-F0FB-74F9-B140356EA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E06E6D-4A27-D769-56C9-76917DD22A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660AC3-9DCF-FA6B-9639-ED791915A2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B3F80E-CC67-1E51-7C24-835CF38735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23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49717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EBA63-8285-0E9F-63CD-47992CE06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3C855A-4360-2E7D-3D65-6E8EB21A06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6E87C9-0E8B-0157-FAEE-2FD7914F7A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547A2-BB6A-A917-8F76-A4397E51D0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24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71598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495F5-2D02-F9CD-98D6-3A4E50408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8B4C83-9FFE-7112-2D83-109092B8BD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AE445B-12B6-EB8D-A247-CB134AFA4D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FA8FE-2004-6729-FCED-5A701BDB44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30073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27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78385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67C8D-97D5-5472-0712-5E736C29A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A4D47D-F4F8-5444-F5D2-7AA0B2E36F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103403-B9E1-E6F6-B11C-20D0980263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E512C-273F-8E78-45A5-3285F14E42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28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00667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18A05-C746-A2A6-7189-702E8DE95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D9CBFE-BFB4-4DB7-B2EF-E969ACB1CE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108BF7-E0C2-4292-0214-DBCA79E255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E4E032-53F6-1929-0D4A-F3B7916A6B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29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5078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D5327-97EA-F0D4-8D70-C9F6FC516A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840051-6BEC-322B-51BB-D4820A1351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76670-2D88-0924-E637-5C587782F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B2584-C369-4176-B019-4D8C124FAD6D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4FBDF-3649-9E7A-44E5-F82DDE780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ABCFF-22AA-880E-ABAD-26AA2532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15360-E463-4EAA-A4C8-0C07449BC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3711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F70D6-DA2C-C94E-64DB-107BD0BE7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C9C27-4587-5EFA-C011-8D2B2D0AB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60C5E-3047-5ECF-B851-BD3640297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B2584-C369-4176-B019-4D8C124FAD6D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9C025-8EE4-95CF-F2D0-8C89A2E7C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F5EAF-F625-81C1-160D-2B98E97F6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15360-E463-4EAA-A4C8-0C07449BC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2098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64589-7E16-3D5E-EFB8-BCFC403B2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F9C955-7733-9AF5-C2D8-F48E34EAA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5AF16-8B54-2AC3-CBAA-D11B30A44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B2584-C369-4176-B019-4D8C124FAD6D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5E202-A72A-2499-6FCA-83387C73D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14025-DEF3-F83B-688A-BEFFFEC63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15360-E463-4EAA-A4C8-0C07449BC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909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61AAF-32CB-C08E-77A0-1D227CA67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14A50-5EA9-5CF3-5C88-B6AF9DFB9D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05E822-357C-259B-59EB-CF1475BA79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3072FE-CB7D-1D88-74D0-4771AE82A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B2584-C369-4176-B019-4D8C124FAD6D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D701-0D53-B345-6568-752A054AB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C2A9BE-3FE2-79B7-51AD-C60ECCF07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15360-E463-4EAA-A4C8-0C07449BC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4428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0FCC1-1813-4D0D-2C6D-2C07704FF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3DE78-4CC4-E376-EA1A-CD6EFDEB7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1592AE-F036-E846-9D82-79D713A22D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2DA1A9-AAE8-2C7E-147D-282C2A76B7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8E7350-6059-72CF-1A30-A69E1A32E0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1D79B8-B3D0-87F1-0475-7D859F27B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B2584-C369-4176-B019-4D8C124FAD6D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423D82-A0F3-EE95-5D37-D006DC186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96924A-E0A8-D1CF-0B24-F08D86C4C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15360-E463-4EAA-A4C8-0C07449BC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2087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2E18A-3EDF-D12F-BD89-3132D869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2D2F6F-6615-96E7-6A3C-B3DD44BD0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B2584-C369-4176-B019-4D8C124FAD6D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5F78BA-2EED-ED38-9AEA-FF3E9DFA1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CEEA67-050F-0759-3B09-2501918A7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15360-E463-4EAA-A4C8-0C07449BC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197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581AF3-7565-2F87-3232-1CF5EEAC4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B2584-C369-4176-B019-4D8C124FAD6D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8D3227-3656-2C7F-4FE0-0FCF1FFEC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98A85-3477-241E-E444-114FDB73E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15360-E463-4EAA-A4C8-0C07449BC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7218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94B29-EA74-E254-C3C3-5D97E23D8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02536-D2EE-5381-37D2-E2C887CC6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573E35-6BE7-5883-6BDA-471F67D3D3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86B2D3-182D-0843-A956-C67077A1C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B2584-C369-4176-B019-4D8C124FAD6D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626F05-5CEF-72FF-EB66-AAE4A6F6C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A7AF2C-F389-ACE0-8723-50B6041B9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15360-E463-4EAA-A4C8-0C07449BC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3315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1D720-7C03-BA1F-DB5A-BE39AF97B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69E629-270A-BCCF-6919-3E8555C31A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F4C1EF-8BD1-C2D1-CB12-4F2E0CC40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6FB80E-3488-7336-3093-5C1FD7948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B2584-C369-4176-B019-4D8C124FAD6D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555F60-B39E-4302-DE56-597C5091A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79D34D-9840-F345-698E-E68E6ACB4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15360-E463-4EAA-A4C8-0C07449BC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580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033CF-CF98-72ED-339D-B9FBE341B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2F175E-9AAA-2EB9-49D8-EEABC8AC66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C9C14-71C0-808F-1DE5-17C9FB91D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B2584-C369-4176-B019-4D8C124FAD6D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7A057-ED0E-1846-23CE-BDF606E6C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C9902-83CA-7646-A0EF-472DBB4EB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15360-E463-4EAA-A4C8-0C07449BC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47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CB93F4-8B47-0631-9AAD-8833D0705D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04DBB9-A20F-8BBB-5956-0F7DCE0961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924B3-241F-06CF-8E17-68B4D4AF8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B2584-C369-4176-B019-4D8C124FAD6D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D8699-76DA-D387-D581-7B9281ED2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96147-6D1A-A841-6FC1-711F2D05B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15360-E463-4EAA-A4C8-0C07449BC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700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Page - Yellow - Client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background with curved lines&#10;&#10;AI-generated content may be incorrect.">
            <a:extLst>
              <a:ext uri="{FF2B5EF4-FFF2-40B4-BE49-F238E27FC236}">
                <a16:creationId xmlns:a16="http://schemas.microsoft.com/office/drawing/2014/main" id="{B73DC436-C430-1491-E846-E1D25FC068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0"/>
            <a:ext cx="12226183" cy="6858000"/>
          </a:xfrm>
          <a:prstGeom prst="rect">
            <a:avLst/>
          </a:prstGeom>
        </p:spPr>
      </p:pic>
      <p:sp>
        <p:nvSpPr>
          <p:cNvPr id="1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630086" y="3705443"/>
            <a:ext cx="4931833" cy="270988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buNone/>
              <a:defRPr sz="1333" b="0" i="0" spc="267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2515" indent="0">
              <a:lnSpc>
                <a:spcPct val="100000"/>
              </a:lnSpc>
              <a:buNone/>
              <a:defRPr sz="800">
                <a:solidFill>
                  <a:srgbClr val="728595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755612" indent="0">
              <a:lnSpc>
                <a:spcPct val="100000"/>
              </a:lnSpc>
              <a:buNone/>
              <a:defRPr sz="800">
                <a:solidFill>
                  <a:srgbClr val="728595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1130244" indent="0">
              <a:lnSpc>
                <a:spcPct val="100000"/>
              </a:lnSpc>
              <a:buNone/>
              <a:defRPr sz="800">
                <a:solidFill>
                  <a:srgbClr val="728595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1443495" indent="0">
              <a:lnSpc>
                <a:spcPct val="100000"/>
              </a:lnSpc>
              <a:buNone/>
              <a:defRPr sz="800">
                <a:solidFill>
                  <a:srgbClr val="728595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5pPr>
          </a:lstStyle>
          <a:p>
            <a:pPr lvl="0"/>
            <a:r>
              <a:rPr lang="en-US" dirty="0"/>
              <a:t>PRESENTATION DATE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-34183" y="8110409"/>
            <a:ext cx="12260365" cy="0"/>
          </a:xfrm>
          <a:prstGeom prst="line">
            <a:avLst/>
          </a:prstGeom>
          <a:ln w="6350" cap="flat" cmpd="sng" algn="ctr">
            <a:solidFill>
              <a:schemeClr val="accent5">
                <a:alpha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765173" y="2215092"/>
            <a:ext cx="10611576" cy="732869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4800" b="1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 Title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765173" y="3093068"/>
            <a:ext cx="10611576" cy="46727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133" b="1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2515" indent="0">
              <a:buNone/>
              <a:defRPr sz="5867">
                <a:solidFill>
                  <a:schemeClr val="bg1"/>
                </a:solidFill>
                <a:latin typeface="Roboto Thin" panose="02000000000000000000" pitchFamily="2" charset="0"/>
                <a:ea typeface="Roboto Thin" panose="02000000000000000000" pitchFamily="2" charset="0"/>
                <a:cs typeface="Roboto Thin" panose="02000000000000000000" pitchFamily="2" charset="0"/>
              </a:defRPr>
            </a:lvl2pPr>
            <a:lvl3pPr marL="755612" indent="0">
              <a:buNone/>
              <a:defRPr sz="5867">
                <a:solidFill>
                  <a:schemeClr val="bg1"/>
                </a:solidFill>
                <a:latin typeface="Roboto Thin" panose="02000000000000000000" pitchFamily="2" charset="0"/>
                <a:ea typeface="Roboto Thin" panose="02000000000000000000" pitchFamily="2" charset="0"/>
                <a:cs typeface="Roboto Thin" panose="02000000000000000000" pitchFamily="2" charset="0"/>
              </a:defRPr>
            </a:lvl3pPr>
            <a:lvl4pPr marL="1130244" indent="0">
              <a:buNone/>
              <a:defRPr sz="5867">
                <a:solidFill>
                  <a:schemeClr val="bg1"/>
                </a:solidFill>
                <a:latin typeface="Roboto Thin" panose="02000000000000000000" pitchFamily="2" charset="0"/>
                <a:ea typeface="Roboto Thin" panose="02000000000000000000" pitchFamily="2" charset="0"/>
                <a:cs typeface="Roboto Thin" panose="02000000000000000000" pitchFamily="2" charset="0"/>
              </a:defRPr>
            </a:lvl4pPr>
            <a:lvl5pPr marL="1443495" indent="0">
              <a:buNone/>
              <a:defRPr sz="5867">
                <a:solidFill>
                  <a:schemeClr val="bg1"/>
                </a:solidFill>
                <a:latin typeface="Roboto Thin" panose="02000000000000000000" pitchFamily="2" charset="0"/>
                <a:ea typeface="Roboto Thin" panose="02000000000000000000" pitchFamily="2" charset="0"/>
                <a:cs typeface="Roboto Thin" panose="02000000000000000000" pitchFamily="2" charset="0"/>
              </a:defRPr>
            </a:lvl5pPr>
          </a:lstStyle>
          <a:p>
            <a:pPr lvl="0"/>
            <a:r>
              <a:rPr lang="en-US" dirty="0"/>
              <a:t>Presentation Subtitle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C64F9DD-DE30-C34A-A485-A07A839C3CA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063317" y="5454985"/>
            <a:ext cx="3510899" cy="68335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Insert client logo</a:t>
            </a:r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932B273F-83BA-A2C5-1897-4D85557BA0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256" y="3560340"/>
            <a:ext cx="3759200" cy="37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8045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 - White">
    <p:bg>
      <p:bgPr>
        <a:solidFill>
          <a:srgbClr val="FE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685950" y="571697"/>
            <a:ext cx="10807652" cy="440488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>
              <a:lnSpc>
                <a:spcPts val="2667"/>
              </a:lnSpc>
              <a:defRPr sz="2933" b="1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Slide title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00608-C600-554E-813F-6D4EC02AF4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9070" y="1583269"/>
            <a:ext cx="10807700" cy="2800351"/>
          </a:xfrm>
          <a:prstGeom prst="rect">
            <a:avLst/>
          </a:prstGeom>
        </p:spPr>
        <p:txBody>
          <a:bodyPr/>
          <a:lstStyle>
            <a:lvl1pPr marL="380981" indent="-380981">
              <a:buClr>
                <a:schemeClr val="accent3"/>
              </a:buClr>
              <a:buFont typeface="Arial" panose="020B0604020202020204" pitchFamily="34" charset="0"/>
              <a:buChar char="•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98988" indent="-243405">
              <a:buClr>
                <a:schemeClr val="accent3"/>
              </a:buClr>
              <a:buFont typeface="Arial" panose="020B0604020202020204" pitchFamily="34" charset="0"/>
              <a:buChar char="•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33926" indent="-239173">
              <a:buClr>
                <a:schemeClr val="accent3"/>
              </a:buClr>
              <a:buFont typeface="Arial" panose="020B0604020202020204" pitchFamily="34" charset="0"/>
              <a:buChar char="•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77330" indent="-243405">
              <a:buClr>
                <a:schemeClr val="accent3"/>
              </a:buClr>
              <a:buFont typeface="Arial" panose="020B0604020202020204" pitchFamily="34" charset="0"/>
              <a:buChar char="•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16502" indent="-239173">
              <a:buClr>
                <a:schemeClr val="accent3"/>
              </a:buClr>
              <a:buFont typeface="Arial" panose="020B0604020202020204" pitchFamily="34" charset="0"/>
              <a:buChar char="•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5C8156-3E9F-6D42-BC09-E86831EB4BD7}"/>
              </a:ext>
            </a:extLst>
          </p:cNvPr>
          <p:cNvSpPr txBox="1"/>
          <p:nvPr userDrawn="1"/>
        </p:nvSpPr>
        <p:spPr>
          <a:xfrm>
            <a:off x="11469217" y="6576097"/>
            <a:ext cx="666087" cy="194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A99FBE0F-E013-8744-85F1-2202A360EF8A}" type="slidenum">
              <a:rPr lang="en-US" sz="667" b="0" i="0" spc="0" baseline="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pPr algn="r"/>
              <a:t>‹#›</a:t>
            </a:fld>
            <a:endParaRPr lang="en-US" sz="667" b="0" i="0" spc="0" baseline="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1BCDDE-4B2D-D9CB-1B80-F64BBF7AB9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58997"/>
            <a:ext cx="419279" cy="35890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B80FCFB7-345B-5532-901F-FB3C2AA30452}"/>
              </a:ext>
            </a:extLst>
          </p:cNvPr>
          <p:cNvGrpSpPr/>
          <p:nvPr userDrawn="1"/>
        </p:nvGrpSpPr>
        <p:grpSpPr>
          <a:xfrm>
            <a:off x="-56699" y="6286303"/>
            <a:ext cx="12248699" cy="582884"/>
            <a:chOff x="-42524" y="4714727"/>
            <a:chExt cx="9186524" cy="437163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AD3E70E-8207-1DD9-A0BA-C9B76DADC2A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42524" y="4714727"/>
              <a:ext cx="9186524" cy="437163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7882186-B640-AD70-6515-3EE323ECF299}"/>
                </a:ext>
              </a:extLst>
            </p:cNvPr>
            <p:cNvGrpSpPr/>
            <p:nvPr userDrawn="1"/>
          </p:nvGrpSpPr>
          <p:grpSpPr>
            <a:xfrm>
              <a:off x="157229" y="4832170"/>
              <a:ext cx="1798358" cy="269180"/>
              <a:chOff x="314460" y="4647384"/>
              <a:chExt cx="2355272" cy="359852"/>
            </a:xfrm>
          </p:grpSpPr>
          <p:pic>
            <p:nvPicPr>
              <p:cNvPr id="12" name="Picture 11" descr="A black background with white text&#10;&#10;AI-generated content may be incorrect.">
                <a:extLst>
                  <a:ext uri="{FF2B5EF4-FFF2-40B4-BE49-F238E27FC236}">
                    <a16:creationId xmlns:a16="http://schemas.microsoft.com/office/drawing/2014/main" id="{14B8BAAB-1A0E-E7F6-9140-98409B12FFE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43" t="31741" r="22676" b="46337"/>
              <a:stretch/>
            </p:blipFill>
            <p:spPr>
              <a:xfrm>
                <a:off x="314460" y="4647384"/>
                <a:ext cx="907472" cy="359852"/>
              </a:xfrm>
              <a:prstGeom prst="rect">
                <a:avLst/>
              </a:prstGeom>
            </p:spPr>
          </p:pic>
          <p:pic>
            <p:nvPicPr>
              <p:cNvPr id="13" name="Picture 12" descr="A black background with white text&#10;&#10;AI-generated content may be incorrect.">
                <a:extLst>
                  <a:ext uri="{FF2B5EF4-FFF2-40B4-BE49-F238E27FC236}">
                    <a16:creationId xmlns:a16="http://schemas.microsoft.com/office/drawing/2014/main" id="{7C5C02F2-245D-A75B-547C-7883F417D6D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307" t="53939" r="23341" b="35665"/>
              <a:stretch/>
            </p:blipFill>
            <p:spPr>
              <a:xfrm>
                <a:off x="1221932" y="4714151"/>
                <a:ext cx="1447800" cy="29308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9199694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74">
          <p15:clr>
            <a:srgbClr val="FBAE40"/>
          </p15:clr>
        </p15:guide>
        <p15:guide id="2" pos="31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AA9BF4-C7D9-462A-C0DF-40364BC7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9CDDD3-DEAD-0A2F-4EFF-3F4FFC844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677A9-23CC-7BC7-25A6-664AB0ADEE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B2584-C369-4176-B019-4D8C124FAD6D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ADDB4-0F1D-4066-1D5E-058EAC87C5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A6A90-90F3-EAD0-240A-56BAB3A0EA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915360-E463-4EAA-A4C8-0C07449BC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855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D0D79-F28E-B31C-5975-A0D3CC86F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E059C6-85BA-4084-1DF2-45B8E4F56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940" y="2403221"/>
            <a:ext cx="10611576" cy="732869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CTE (Common Table Expressions)</a:t>
            </a:r>
          </a:p>
        </p:txBody>
      </p:sp>
    </p:spTree>
    <p:extLst>
      <p:ext uri="{BB962C8B-B14F-4D97-AF65-F5344CB8AC3E}">
        <p14:creationId xmlns:p14="http://schemas.microsoft.com/office/powerpoint/2010/main" val="1481212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06F76D4C-B609-9645-6B56-C8662510D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CTE (Common Table Expressions)</a:t>
            </a:r>
            <a:endParaRPr lang="en-IN" dirty="0"/>
          </a:p>
        </p:txBody>
      </p:sp>
      <p:sp>
        <p:nvSpPr>
          <p:cNvPr id="25" name="Rectangle 11">
            <a:extLst>
              <a:ext uri="{FF2B5EF4-FFF2-40B4-BE49-F238E27FC236}">
                <a16:creationId xmlns:a16="http://schemas.microsoft.com/office/drawing/2014/main" id="{B35C47FD-CBB4-03EA-2A35-3A56803111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158" y="1068159"/>
            <a:ext cx="1080765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CTE is a temporary named result set in SQL that can be referred to within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SELECT, INSERT, UPDATE,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DELETE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statement.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7BB7CCE-397C-6627-1EB3-9D02F39DB2EC}"/>
              </a:ext>
            </a:extLst>
          </p:cNvPr>
          <p:cNvSpPr txBox="1"/>
          <p:nvPr/>
        </p:nvSpPr>
        <p:spPr>
          <a:xfrm>
            <a:off x="116959" y="2015445"/>
            <a:ext cx="61243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Simplifies complex queries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Improves readability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Can be recursive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2FCD0D-C223-DC16-7628-D7AA383BDC2E}"/>
              </a:ext>
            </a:extLst>
          </p:cNvPr>
          <p:cNvSpPr txBox="1"/>
          <p:nvPr/>
        </p:nvSpPr>
        <p:spPr>
          <a:xfrm>
            <a:off x="574158" y="1830779"/>
            <a:ext cx="612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Purpose: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6302565-6302-9A3A-6FDD-6D4FB8515890}"/>
              </a:ext>
            </a:extLst>
          </p:cNvPr>
          <p:cNvSpPr txBox="1"/>
          <p:nvPr/>
        </p:nvSpPr>
        <p:spPr>
          <a:xfrm>
            <a:off x="685950" y="3215774"/>
            <a:ext cx="3035445" cy="23083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i="1" dirty="0"/>
              <a:t>Syntax:</a:t>
            </a:r>
          </a:p>
          <a:p>
            <a:r>
              <a:rPr lang="en-US" dirty="0"/>
              <a:t>WITH cte_name AS (</a:t>
            </a:r>
          </a:p>
          <a:p>
            <a:r>
              <a:rPr lang="en-US" dirty="0"/>
              <a:t>    SELECT column1, column2</a:t>
            </a:r>
          </a:p>
          <a:p>
            <a:r>
              <a:rPr lang="en-US" dirty="0"/>
              <a:t>    FROM table_name</a:t>
            </a:r>
          </a:p>
          <a:p>
            <a:r>
              <a:rPr lang="en-US" dirty="0"/>
              <a:t>    WHERE condition</a:t>
            </a:r>
          </a:p>
          <a:p>
            <a:r>
              <a:rPr lang="en-US" dirty="0"/>
              <a:t>)</a:t>
            </a:r>
          </a:p>
          <a:p>
            <a:r>
              <a:rPr lang="en-US" dirty="0"/>
              <a:t>SELECT *</a:t>
            </a:r>
          </a:p>
          <a:p>
            <a:r>
              <a:rPr lang="en-US" dirty="0"/>
              <a:t>FROM cte_name;</a:t>
            </a:r>
          </a:p>
        </p:txBody>
      </p:sp>
      <p:sp>
        <p:nvSpPr>
          <p:cNvPr id="32" name="Rectangle 12">
            <a:extLst>
              <a:ext uri="{FF2B5EF4-FFF2-40B4-BE49-F238E27FC236}">
                <a16:creationId xmlns:a16="http://schemas.microsoft.com/office/drawing/2014/main" id="{A7258196-3D8C-4221-01D2-B9BAEC26D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950" y="5618194"/>
            <a:ext cx="386516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WITH – defines the CTE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cte_name – the name of the temporary table</a:t>
            </a:r>
          </a:p>
        </p:txBody>
      </p:sp>
      <p:pic>
        <p:nvPicPr>
          <p:cNvPr id="1038" name="Picture 14" descr="Use Common Table Expressions (CTE) to Keep Your SQL Clean | Mode">
            <a:extLst>
              <a:ext uri="{FF2B5EF4-FFF2-40B4-BE49-F238E27FC236}">
                <a16:creationId xmlns:a16="http://schemas.microsoft.com/office/drawing/2014/main" id="{CC043069-54D5-4F8C-9323-80B7B6FAA5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9102" y="1830779"/>
            <a:ext cx="6124352" cy="373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2308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EE905-B6F4-CD54-D828-F19BB3CF6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D567F-482C-CC00-60D3-67B6C497E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CTE (Common Table Expressions)</a:t>
            </a: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53D6892-5A0B-A6EA-E70A-0F4AD16AD79E}"/>
              </a:ext>
            </a:extLst>
          </p:cNvPr>
          <p:cNvGraphicFramePr>
            <a:graphicFrameLocks noGrp="1"/>
          </p:cNvGraphicFramePr>
          <p:nvPr/>
        </p:nvGraphicFramePr>
        <p:xfrm>
          <a:off x="685950" y="1823747"/>
          <a:ext cx="10515600" cy="14630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69957375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507764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7226901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015855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EmpID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Department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Salary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9610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Alice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5729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Bob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1172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Carol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7000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182995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A209FAD-4428-3D8B-41C0-998CF4EE1E78}"/>
              </a:ext>
            </a:extLst>
          </p:cNvPr>
          <p:cNvSpPr txBox="1"/>
          <p:nvPr/>
        </p:nvSpPr>
        <p:spPr>
          <a:xfrm>
            <a:off x="595423" y="1077307"/>
            <a:ext cx="612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/>
              <a:t>Simple CTE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40A41F-CC07-2967-4231-0B1E8EBF00A2}"/>
              </a:ext>
            </a:extLst>
          </p:cNvPr>
          <p:cNvSpPr txBox="1"/>
          <p:nvPr/>
        </p:nvSpPr>
        <p:spPr>
          <a:xfrm>
            <a:off x="595423" y="1477417"/>
            <a:ext cx="6124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Sample Table: Employees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BC63F8-A064-E135-85F1-8BD37FAF3F5E}"/>
              </a:ext>
            </a:extLst>
          </p:cNvPr>
          <p:cNvSpPr txBox="1"/>
          <p:nvPr/>
        </p:nvSpPr>
        <p:spPr>
          <a:xfrm>
            <a:off x="685950" y="4098349"/>
            <a:ext cx="3131138" cy="2031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WITH IT_Employees AS (</a:t>
            </a:r>
          </a:p>
          <a:p>
            <a:r>
              <a:rPr lang="en-US" dirty="0"/>
              <a:t>    SELECT Name, Salary</a:t>
            </a:r>
          </a:p>
          <a:p>
            <a:r>
              <a:rPr lang="en-US" dirty="0"/>
              <a:t>    FROM Employees</a:t>
            </a:r>
          </a:p>
          <a:p>
            <a:r>
              <a:rPr lang="en-US" dirty="0"/>
              <a:t>    WHERE Department = 'IT'</a:t>
            </a:r>
          </a:p>
          <a:p>
            <a:r>
              <a:rPr lang="en-US" dirty="0"/>
              <a:t>)</a:t>
            </a:r>
          </a:p>
          <a:p>
            <a:r>
              <a:rPr lang="en-US" dirty="0"/>
              <a:t>SELECT *</a:t>
            </a:r>
          </a:p>
          <a:p>
            <a:r>
              <a:rPr lang="en-US" dirty="0"/>
              <a:t>FROM IT_Employees;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6BACEA8-F5F5-EE6C-30CF-4F8A61EDA65F}"/>
              </a:ext>
            </a:extLst>
          </p:cNvPr>
          <p:cNvGraphicFramePr>
            <a:graphicFrameLocks noGrp="1"/>
          </p:cNvGraphicFramePr>
          <p:nvPr/>
        </p:nvGraphicFramePr>
        <p:xfrm>
          <a:off x="4550735" y="4098349"/>
          <a:ext cx="7324060" cy="1097280"/>
        </p:xfrm>
        <a:graphic>
          <a:graphicData uri="http://schemas.openxmlformats.org/drawingml/2006/table">
            <a:tbl>
              <a:tblPr/>
              <a:tblGrid>
                <a:gridCol w="3662030">
                  <a:extLst>
                    <a:ext uri="{9D8B030D-6E8A-4147-A177-3AD203B41FA5}">
                      <a16:colId xmlns:a16="http://schemas.microsoft.com/office/drawing/2014/main" val="960867387"/>
                    </a:ext>
                  </a:extLst>
                </a:gridCol>
                <a:gridCol w="3662030">
                  <a:extLst>
                    <a:ext uri="{9D8B030D-6E8A-4147-A177-3AD203B41FA5}">
                      <a16:colId xmlns:a16="http://schemas.microsoft.com/office/drawing/2014/main" val="22663672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Salary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9927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6000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5504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Carol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7000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62255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9E0B5ACE-314A-0157-E811-CAF70C31F65A}"/>
              </a:ext>
            </a:extLst>
          </p:cNvPr>
          <p:cNvSpPr txBox="1"/>
          <p:nvPr/>
        </p:nvSpPr>
        <p:spPr>
          <a:xfrm>
            <a:off x="595423" y="3587163"/>
            <a:ext cx="6124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Query: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EB5E4D-39AE-768E-BCE8-D47C9BF69617}"/>
              </a:ext>
            </a:extLst>
          </p:cNvPr>
          <p:cNvSpPr txBox="1"/>
          <p:nvPr/>
        </p:nvSpPr>
        <p:spPr>
          <a:xfrm>
            <a:off x="4458586" y="3587858"/>
            <a:ext cx="6124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308735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94608-43AF-AE00-2816-4EC6D6195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511F2-7D13-0628-6B2D-C4EDE0497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CTE (Common Table Expressions)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4B5AB8-AFD1-B1FB-C0D8-2BA107BA1264}"/>
              </a:ext>
            </a:extLst>
          </p:cNvPr>
          <p:cNvSpPr txBox="1"/>
          <p:nvPr/>
        </p:nvSpPr>
        <p:spPr>
          <a:xfrm>
            <a:off x="595423" y="1077307"/>
            <a:ext cx="612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/>
              <a:t>Recursive CTE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B82D2C-A0A6-EE20-6994-E0863DE2A4BC}"/>
              </a:ext>
            </a:extLst>
          </p:cNvPr>
          <p:cNvSpPr txBox="1"/>
          <p:nvPr/>
        </p:nvSpPr>
        <p:spPr>
          <a:xfrm>
            <a:off x="685951" y="1556578"/>
            <a:ext cx="549156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A </a:t>
            </a:r>
            <a:r>
              <a:rPr lang="en-US" b="1" dirty="0"/>
              <a:t>recursive CTE</a:t>
            </a:r>
            <a:r>
              <a:rPr lang="en-US" dirty="0"/>
              <a:t> is a CTE that </a:t>
            </a:r>
            <a:r>
              <a:rPr lang="en-US" b="1" dirty="0"/>
              <a:t>refers to itself</a:t>
            </a:r>
            <a:r>
              <a:rPr lang="en-US" dirty="0"/>
              <a:t> to process hierarchical or iterative data.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Useful for: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Organizational hierarchies (employees &amp; managers)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Bill of materials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Tree-like data structures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Consists of: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Anchor member</a:t>
            </a:r>
            <a:r>
              <a:rPr lang="en-US" dirty="0"/>
              <a:t> – starting point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Recursive member</a:t>
            </a:r>
            <a:r>
              <a:rPr lang="en-US" dirty="0"/>
              <a:t> – iteratively adds rows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4D0EBA-D2A5-45C6-7F8C-24DBCA89044E}"/>
              </a:ext>
            </a:extLst>
          </p:cNvPr>
          <p:cNvSpPr txBox="1"/>
          <p:nvPr/>
        </p:nvSpPr>
        <p:spPr>
          <a:xfrm>
            <a:off x="6505206" y="1656767"/>
            <a:ext cx="5085904" cy="39703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b="1" i="1" dirty="0"/>
              <a:t>Syntax:</a:t>
            </a:r>
          </a:p>
          <a:p>
            <a:r>
              <a:rPr lang="en-US" dirty="0"/>
              <a:t>WITH RECURSIVE cte_name AS (</a:t>
            </a:r>
          </a:p>
          <a:p>
            <a:r>
              <a:rPr lang="en-US" dirty="0"/>
              <a:t>    -- Anchor member</a:t>
            </a:r>
          </a:p>
          <a:p>
            <a:r>
              <a:rPr lang="en-US" dirty="0"/>
              <a:t>    SELECT columns</a:t>
            </a:r>
          </a:p>
          <a:p>
            <a:r>
              <a:rPr lang="en-US" dirty="0"/>
              <a:t>    FROM table_name</a:t>
            </a:r>
          </a:p>
          <a:p>
            <a:r>
              <a:rPr lang="en-US" dirty="0"/>
              <a:t>    WHERE condition</a:t>
            </a:r>
          </a:p>
          <a:p>
            <a:r>
              <a:rPr lang="en-US" dirty="0"/>
              <a:t>    UNION ALL</a:t>
            </a:r>
          </a:p>
          <a:p>
            <a:r>
              <a:rPr lang="en-US" dirty="0"/>
              <a:t>    -- Recursive member</a:t>
            </a:r>
          </a:p>
          <a:p>
            <a:r>
              <a:rPr lang="en-US" dirty="0"/>
              <a:t>    SELECT columns</a:t>
            </a:r>
          </a:p>
          <a:p>
            <a:r>
              <a:rPr lang="en-US" dirty="0"/>
              <a:t>    FROM table_name t</a:t>
            </a:r>
          </a:p>
          <a:p>
            <a:r>
              <a:rPr lang="en-US" dirty="0"/>
              <a:t>    INNER JOIN cte_name c ON t.column = c.column</a:t>
            </a:r>
          </a:p>
          <a:p>
            <a:r>
              <a:rPr lang="en-US" dirty="0"/>
              <a:t>)</a:t>
            </a:r>
          </a:p>
          <a:p>
            <a:r>
              <a:rPr lang="en-US" dirty="0"/>
              <a:t>SELECT *</a:t>
            </a:r>
          </a:p>
          <a:p>
            <a:r>
              <a:rPr lang="en-US" dirty="0"/>
              <a:t>FROM cte_name;</a:t>
            </a:r>
          </a:p>
        </p:txBody>
      </p:sp>
    </p:spTree>
    <p:extLst>
      <p:ext uri="{BB962C8B-B14F-4D97-AF65-F5344CB8AC3E}">
        <p14:creationId xmlns:p14="http://schemas.microsoft.com/office/powerpoint/2010/main" val="2433603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8A734-3B6C-38BC-319F-FDEED95E2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E5688-705E-79C5-EC37-B12BE0958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CTE (Common Table Expressions)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F57461-3207-BD2E-54EC-D68688E05346}"/>
              </a:ext>
            </a:extLst>
          </p:cNvPr>
          <p:cNvSpPr txBox="1"/>
          <p:nvPr/>
        </p:nvSpPr>
        <p:spPr>
          <a:xfrm>
            <a:off x="595423" y="1477417"/>
            <a:ext cx="6124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Sample Table: Employees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BBA2E9E-E2CE-F74F-7C57-1CA5243B2BE4}"/>
              </a:ext>
            </a:extLst>
          </p:cNvPr>
          <p:cNvGraphicFramePr>
            <a:graphicFrameLocks noGrp="1"/>
          </p:cNvGraphicFramePr>
          <p:nvPr/>
        </p:nvGraphicFramePr>
        <p:xfrm>
          <a:off x="831976" y="1965960"/>
          <a:ext cx="10515600" cy="29260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12096919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5671059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866342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EmpID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ManagerID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7133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John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NULL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494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Mike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1084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Sara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7913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Emma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5486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David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7731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Alice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15015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Robert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66493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6612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0E270-360D-334D-2374-CE9220036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AEE96-FB20-DDD6-E4D7-25BB9F39A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CTE (Common Table Expressions)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990B4C-F1A5-B67A-7D4C-394BB894A8B9}"/>
              </a:ext>
            </a:extLst>
          </p:cNvPr>
          <p:cNvSpPr txBox="1"/>
          <p:nvPr/>
        </p:nvSpPr>
        <p:spPr>
          <a:xfrm>
            <a:off x="685950" y="1195466"/>
            <a:ext cx="6124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Query:</a:t>
            </a:r>
            <a:endParaRPr lang="en-IN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6C75DD-9CE9-80CE-B50E-0C2E1499999D}"/>
              </a:ext>
            </a:extLst>
          </p:cNvPr>
          <p:cNvSpPr txBox="1"/>
          <p:nvPr/>
        </p:nvSpPr>
        <p:spPr>
          <a:xfrm>
            <a:off x="685950" y="1748080"/>
            <a:ext cx="6124352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00" dirty="0"/>
              <a:t>WITH RECURSIVE EmployeeHierarchy AS (</a:t>
            </a:r>
          </a:p>
          <a:p>
            <a:r>
              <a:rPr lang="en-IN" sz="1700" dirty="0"/>
              <a:t>    -- Anchor member: top-level manager</a:t>
            </a:r>
          </a:p>
          <a:p>
            <a:r>
              <a:rPr lang="en-IN" sz="1700" dirty="0"/>
              <a:t>    SELECT EmpID, Name, ManagerID, 1 AS Level</a:t>
            </a:r>
          </a:p>
          <a:p>
            <a:r>
              <a:rPr lang="en-IN" sz="1700" dirty="0"/>
              <a:t>    FROM Employees</a:t>
            </a:r>
          </a:p>
          <a:p>
            <a:r>
              <a:rPr lang="en-IN" sz="1700" dirty="0"/>
              <a:t>    WHERE ManagerID IS NULL</a:t>
            </a:r>
          </a:p>
          <a:p>
            <a:endParaRPr lang="en-IN" sz="1700" dirty="0"/>
          </a:p>
          <a:p>
            <a:r>
              <a:rPr lang="en-IN" sz="1700" dirty="0"/>
              <a:t>    UNION ALL</a:t>
            </a:r>
          </a:p>
          <a:p>
            <a:endParaRPr lang="en-IN" sz="1700" dirty="0"/>
          </a:p>
          <a:p>
            <a:r>
              <a:rPr lang="en-IN" sz="1700" dirty="0"/>
              <a:t>    -- Recursive member: employees reporting to those in hierarchy</a:t>
            </a:r>
          </a:p>
          <a:p>
            <a:r>
              <a:rPr lang="en-IN" sz="1700" dirty="0"/>
              <a:t>    SELECT e.EmpID, e.Name, e.ManagerID, eh.Level + 1</a:t>
            </a:r>
          </a:p>
          <a:p>
            <a:r>
              <a:rPr lang="en-IN" sz="1700" dirty="0"/>
              <a:t>    FROM Employees e</a:t>
            </a:r>
          </a:p>
          <a:p>
            <a:r>
              <a:rPr lang="en-IN" sz="1700" dirty="0"/>
              <a:t>    INNER JOIN EmployeeHierarchy eh ON e.ManagerID = eh.EmpID</a:t>
            </a:r>
          </a:p>
          <a:p>
            <a:r>
              <a:rPr lang="en-IN" sz="1700" dirty="0"/>
              <a:t>)</a:t>
            </a:r>
          </a:p>
          <a:p>
            <a:r>
              <a:rPr lang="en-IN" sz="1700" dirty="0"/>
              <a:t>SELECT *</a:t>
            </a:r>
          </a:p>
          <a:p>
            <a:r>
              <a:rPr lang="en-IN" sz="1700" dirty="0"/>
              <a:t>FROM EmployeeHierarchy</a:t>
            </a:r>
          </a:p>
          <a:p>
            <a:r>
              <a:rPr lang="en-IN" sz="1700" dirty="0"/>
              <a:t>ORDER BY Level, ManagerID;</a:t>
            </a:r>
          </a:p>
        </p:txBody>
      </p:sp>
    </p:spTree>
    <p:extLst>
      <p:ext uri="{BB962C8B-B14F-4D97-AF65-F5344CB8AC3E}">
        <p14:creationId xmlns:p14="http://schemas.microsoft.com/office/powerpoint/2010/main" val="3588536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D3EC1-37CA-1B7E-9FD9-FEFE2C39E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BF660-2ADD-E228-4A9A-662CE3CFB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CTE (Common Table Expressions)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095425-8A02-061D-FC7B-350A8726F42E}"/>
              </a:ext>
            </a:extLst>
          </p:cNvPr>
          <p:cNvSpPr txBox="1"/>
          <p:nvPr/>
        </p:nvSpPr>
        <p:spPr>
          <a:xfrm>
            <a:off x="685950" y="1209712"/>
            <a:ext cx="6124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Output:</a:t>
            </a:r>
            <a:endParaRPr lang="en-IN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433B88C-1AD0-337D-81C4-4681A64A83B5}"/>
              </a:ext>
            </a:extLst>
          </p:cNvPr>
          <p:cNvGraphicFramePr>
            <a:graphicFrameLocks noGrp="1"/>
          </p:cNvGraphicFramePr>
          <p:nvPr/>
        </p:nvGraphicFramePr>
        <p:xfrm>
          <a:off x="685950" y="1965960"/>
          <a:ext cx="10515600" cy="29260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95982849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099209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1928485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780670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EmpID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ManagerID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8332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John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NULL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3374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Mike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078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Emma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035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Sara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051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Robert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1680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David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44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Alice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97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5832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1D5FE-45B8-E982-D7A3-4E1AFD274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74D5E-A8EA-D343-1316-2BC6D8DAE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CTE (Common Table Expressions)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7E30E45-DE23-695F-2CE9-43D6F8748B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423" y="1698157"/>
            <a:ext cx="425308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Improves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query readability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Makes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 queries simpler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Supports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recursion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Can be used multiple times in a query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2D6C6E-2902-E710-5927-A41FB7567E1A}"/>
              </a:ext>
            </a:extLst>
          </p:cNvPr>
          <p:cNvSpPr txBox="1"/>
          <p:nvPr/>
        </p:nvSpPr>
        <p:spPr>
          <a:xfrm>
            <a:off x="595423" y="1155116"/>
            <a:ext cx="612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Advantages of CTEs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2C79B3-19AB-DC03-B385-AF3D47AB3D97}"/>
              </a:ext>
            </a:extLst>
          </p:cNvPr>
          <p:cNvSpPr txBox="1"/>
          <p:nvPr/>
        </p:nvSpPr>
        <p:spPr>
          <a:xfrm>
            <a:off x="595423" y="3228945"/>
            <a:ext cx="612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Key Points to Remember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A2088C-8299-1C0C-7321-47759821BF94}"/>
              </a:ext>
            </a:extLst>
          </p:cNvPr>
          <p:cNvSpPr txBox="1"/>
          <p:nvPr/>
        </p:nvSpPr>
        <p:spPr>
          <a:xfrm>
            <a:off x="595423" y="3959514"/>
            <a:ext cx="61243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CTE exists </a:t>
            </a:r>
            <a:r>
              <a:rPr lang="en-US" b="1" dirty="0"/>
              <a:t>only during query execution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Can be </a:t>
            </a:r>
            <a:r>
              <a:rPr lang="en-US" b="1" dirty="0"/>
              <a:t>recursive or non-recursive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Must be followed by a </a:t>
            </a:r>
            <a:r>
              <a:rPr lang="en-US" b="1" dirty="0"/>
              <a:t>main query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415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D0D79-F28E-B31C-5975-A0D3CC86F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E059C6-85BA-4084-1DF2-45B8E4F56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2656" y="2467016"/>
            <a:ext cx="10611576" cy="732869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Temporary Tables</a:t>
            </a:r>
          </a:p>
        </p:txBody>
      </p:sp>
    </p:spTree>
    <p:extLst>
      <p:ext uri="{BB962C8B-B14F-4D97-AF65-F5344CB8AC3E}">
        <p14:creationId xmlns:p14="http://schemas.microsoft.com/office/powerpoint/2010/main" val="854671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06F76D4C-B609-9645-6B56-C8662510D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Temporary Tables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5F0B16-352E-F5BD-5CE8-A12B7B9C9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055" y="999782"/>
            <a:ext cx="1108429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Temporary tables are special tables used to store data temporarily during a session. These are </a:t>
            </a:r>
            <a:r>
              <a:rPr lang="en-US" altLang="en-US" sz="1600" dirty="0">
                <a:latin typeface="Arial" panose="020B0604020202020204" pitchFamily="34" charset="0"/>
              </a:rPr>
              <a:t>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utomatically dropped when the session ends (or explicitly dropped).These are </a:t>
            </a:r>
            <a:r>
              <a:rPr lang="en-US" altLang="en-US" sz="1600" dirty="0">
                <a:latin typeface="Arial" panose="020B0604020202020204" pitchFamily="34" charset="0"/>
              </a:rPr>
              <a:t>u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seful for complex queries, intermediate results, and performance optimization.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3701C8-FEA3-31A1-0AA5-C6C68D207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950" y="2576195"/>
            <a:ext cx="530786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Local Temporary 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Name starts with # (e.g., #TempTable)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Visible only to the session that created it.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Dropped automatically when session 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Global Temporary 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Name starts with ## (e.g., ##TempTable).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Visible to all sessions.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Dropped when the last session using it 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AABCEC-AA60-5DAF-478C-FF5145A09E36}"/>
              </a:ext>
            </a:extLst>
          </p:cNvPr>
          <p:cNvSpPr txBox="1"/>
          <p:nvPr/>
        </p:nvSpPr>
        <p:spPr>
          <a:xfrm>
            <a:off x="685950" y="2003432"/>
            <a:ext cx="612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/>
              <a:t>Types of Temporary Tables</a:t>
            </a:r>
          </a:p>
        </p:txBody>
      </p:sp>
    </p:spTree>
    <p:extLst>
      <p:ext uri="{BB962C8B-B14F-4D97-AF65-F5344CB8AC3E}">
        <p14:creationId xmlns:p14="http://schemas.microsoft.com/office/powerpoint/2010/main" val="3245832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D8C62-FE9B-1C00-B5BD-0EB97C3A0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119A14B2-B736-996D-2B0A-ED6490CC8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Temporary Tables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8D549-8503-0F9B-80DC-28D1DC23EEC3}"/>
              </a:ext>
            </a:extLst>
          </p:cNvPr>
          <p:cNvSpPr txBox="1"/>
          <p:nvPr/>
        </p:nvSpPr>
        <p:spPr>
          <a:xfrm>
            <a:off x="824173" y="1709295"/>
            <a:ext cx="2971650" cy="14773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b="1" i="1" dirty="0"/>
              <a:t>Syntax:</a:t>
            </a:r>
          </a:p>
          <a:p>
            <a:r>
              <a:rPr lang="en-US" dirty="0"/>
              <a:t>CREATE TABLE #TempTable (</a:t>
            </a:r>
          </a:p>
          <a:p>
            <a:r>
              <a:rPr lang="en-US" dirty="0"/>
              <a:t>    ID INT,</a:t>
            </a:r>
          </a:p>
          <a:p>
            <a:r>
              <a:rPr lang="en-US" dirty="0"/>
              <a:t>    Name VARCHAR(50)</a:t>
            </a:r>
          </a:p>
          <a:p>
            <a:r>
              <a:rPr lang="en-US" dirty="0"/>
              <a:t>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D6534D-9B1B-DEB5-4D77-10163A02F02F}"/>
              </a:ext>
            </a:extLst>
          </p:cNvPr>
          <p:cNvSpPr txBox="1"/>
          <p:nvPr/>
        </p:nvSpPr>
        <p:spPr>
          <a:xfrm>
            <a:off x="733647" y="1178209"/>
            <a:ext cx="612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Create Local Temporary Table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C23300-9A4A-23FD-9C6D-8A11DA434AEF}"/>
              </a:ext>
            </a:extLst>
          </p:cNvPr>
          <p:cNvSpPr txBox="1"/>
          <p:nvPr/>
        </p:nvSpPr>
        <p:spPr>
          <a:xfrm>
            <a:off x="824173" y="4054917"/>
            <a:ext cx="2971650" cy="14773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b="1" i="1" dirty="0"/>
              <a:t>Syntax:</a:t>
            </a:r>
          </a:p>
          <a:p>
            <a:r>
              <a:rPr lang="en-US" dirty="0"/>
              <a:t>CREATE TABLE ##TempTable (</a:t>
            </a:r>
          </a:p>
          <a:p>
            <a:r>
              <a:rPr lang="en-US" dirty="0"/>
              <a:t>    ID INT,</a:t>
            </a:r>
          </a:p>
          <a:p>
            <a:r>
              <a:rPr lang="en-US" dirty="0"/>
              <a:t>    Name VARCHAR(50)</a:t>
            </a:r>
          </a:p>
          <a:p>
            <a:r>
              <a:rPr lang="en-US" dirty="0"/>
              <a:t>);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FD76B7-5805-BAD5-2A90-D52530940DF6}"/>
              </a:ext>
            </a:extLst>
          </p:cNvPr>
          <p:cNvSpPr txBox="1"/>
          <p:nvPr/>
        </p:nvSpPr>
        <p:spPr>
          <a:xfrm>
            <a:off x="685950" y="3552702"/>
            <a:ext cx="39817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Create Global Temporary Table</a:t>
            </a:r>
          </a:p>
        </p:txBody>
      </p:sp>
      <p:pic>
        <p:nvPicPr>
          <p:cNvPr id="2050" name="Picture 2" descr="What is a temporary table in SQL?">
            <a:extLst>
              <a:ext uri="{FF2B5EF4-FFF2-40B4-BE49-F238E27FC236}">
                <a16:creationId xmlns:a16="http://schemas.microsoft.com/office/drawing/2014/main" id="{CFD89EBE-A3E2-91D8-257A-2709FB510B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80"/>
          <a:stretch>
            <a:fillRect/>
          </a:stretch>
        </p:blipFill>
        <p:spPr bwMode="auto">
          <a:xfrm>
            <a:off x="5119620" y="964338"/>
            <a:ext cx="6553117" cy="4818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2070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0FAFD-1373-C628-C43F-76D18306A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D6D833E2-E45E-A4CA-FBED-54FEC1D8E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Temporary Tables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5D006D-9168-1718-3FDE-7C642B555A89}"/>
              </a:ext>
            </a:extLst>
          </p:cNvPr>
          <p:cNvSpPr txBox="1"/>
          <p:nvPr/>
        </p:nvSpPr>
        <p:spPr>
          <a:xfrm>
            <a:off x="606056" y="1427161"/>
            <a:ext cx="61243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Exist only in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tempdb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database.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Auto-deleted after session ends.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Can use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indexes, joins, constraints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like normal tables.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Faster than permanent tables for temporary data.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873C32-CB35-E7DB-393C-B99CE06E09D8}"/>
              </a:ext>
            </a:extLst>
          </p:cNvPr>
          <p:cNvSpPr txBox="1"/>
          <p:nvPr/>
        </p:nvSpPr>
        <p:spPr>
          <a:xfrm>
            <a:off x="698398" y="980471"/>
            <a:ext cx="612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i="1" dirty="0"/>
              <a:t>Key Features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DC52542-6FA3-E6B7-035C-208261B51C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056" y="3548060"/>
            <a:ext cx="594585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Storing intermediate results in complex queries.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Breaking down big queries into smaller parts.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Handling bulk insert/update operations.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Used in stored procedures for temporary data storage.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9CD6BF-2848-1770-E278-7AD7859BBC05}"/>
              </a:ext>
            </a:extLst>
          </p:cNvPr>
          <p:cNvSpPr txBox="1"/>
          <p:nvPr/>
        </p:nvSpPr>
        <p:spPr>
          <a:xfrm>
            <a:off x="698398" y="3028890"/>
            <a:ext cx="612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i="1" dirty="0"/>
              <a:t>Use Cases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C1384A-A563-FC4A-B830-C6280E9E19A3}"/>
              </a:ext>
            </a:extLst>
          </p:cNvPr>
          <p:cNvSpPr txBox="1"/>
          <p:nvPr/>
        </p:nvSpPr>
        <p:spPr>
          <a:xfrm>
            <a:off x="7065483" y="971930"/>
            <a:ext cx="612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i="1" dirty="0"/>
              <a:t>Advantages &amp; Limitations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2A06F3A1-11FE-F6BA-1426-30BBCAF6F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5483" y="1427161"/>
            <a:ext cx="4612267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Advantages: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Improve query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Reduce code complexity.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Session-specific data handling.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Limitations: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Occupies memory in tempdb.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Not suitable for long-term storage.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Dropped automatically (data not permanent).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6534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22543-2D0A-93B3-138C-705B0E1E7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1C28F7CB-FA69-98BA-32BF-DF0489779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Temporary Tables</a:t>
            </a: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4431803-2FED-9CAE-323B-22E7B33A7673}"/>
              </a:ext>
            </a:extLst>
          </p:cNvPr>
          <p:cNvGraphicFramePr>
            <a:graphicFrameLocks noGrp="1"/>
          </p:cNvGraphicFramePr>
          <p:nvPr/>
        </p:nvGraphicFramePr>
        <p:xfrm>
          <a:off x="685950" y="1616149"/>
          <a:ext cx="10515600" cy="18288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77599972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9015948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2567200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Permanent 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Temporary 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035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Storage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User-defined DB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tempdb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12280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Lifetime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Until dropped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Until session ends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5341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Accessibility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All users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Session (or global)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1813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Naming Convention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Normal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# or ## prefix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105793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C6E4B64-0F44-2468-CDE8-99C950A49E67}"/>
              </a:ext>
            </a:extLst>
          </p:cNvPr>
          <p:cNvSpPr txBox="1"/>
          <p:nvPr/>
        </p:nvSpPr>
        <p:spPr>
          <a:xfrm>
            <a:off x="611522" y="1097596"/>
            <a:ext cx="612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Difference – Permanent vs Temporary Tables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7361E6-F69A-8B90-017B-234444A94210}"/>
              </a:ext>
            </a:extLst>
          </p:cNvPr>
          <p:cNvSpPr txBox="1"/>
          <p:nvPr/>
        </p:nvSpPr>
        <p:spPr>
          <a:xfrm>
            <a:off x="611522" y="4610065"/>
            <a:ext cx="61243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Temporary tables are best for </a:t>
            </a:r>
            <a:r>
              <a:rPr lang="en-US" b="1" dirty="0"/>
              <a:t>short-term data storage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Help simplify </a:t>
            </a:r>
            <a:r>
              <a:rPr lang="en-US" b="1" dirty="0"/>
              <a:t>complex queries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Widely used in </a:t>
            </a:r>
            <a:r>
              <a:rPr lang="en-US" b="1" dirty="0"/>
              <a:t>ETL, stored procedures, and reporting</a:t>
            </a:r>
            <a:r>
              <a:rPr lang="en-US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3044FD-59AC-267E-0FBF-141A9B6CE6BC}"/>
              </a:ext>
            </a:extLst>
          </p:cNvPr>
          <p:cNvSpPr txBox="1"/>
          <p:nvPr/>
        </p:nvSpPr>
        <p:spPr>
          <a:xfrm>
            <a:off x="611522" y="4124544"/>
            <a:ext cx="612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283263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D0D79-F28E-B31C-5975-A0D3CC86F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E059C6-85BA-4084-1DF2-45B8E4F56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8981" y="2467016"/>
            <a:ext cx="10611576" cy="732869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Pivot and Unpivot</a:t>
            </a:r>
          </a:p>
        </p:txBody>
      </p:sp>
    </p:spTree>
    <p:extLst>
      <p:ext uri="{BB962C8B-B14F-4D97-AF65-F5344CB8AC3E}">
        <p14:creationId xmlns:p14="http://schemas.microsoft.com/office/powerpoint/2010/main" val="11474035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06F76D4C-B609-9645-6B56-C8662510D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Pivot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DC378B-849E-F68A-9B7B-7BA8466794ED}"/>
              </a:ext>
            </a:extLst>
          </p:cNvPr>
          <p:cNvSpPr txBox="1"/>
          <p:nvPr/>
        </p:nvSpPr>
        <p:spPr>
          <a:xfrm>
            <a:off x="563525" y="1088218"/>
            <a:ext cx="90164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Pivot</a:t>
            </a:r>
            <a:r>
              <a:rPr lang="en-US" dirty="0"/>
              <a:t> and </a:t>
            </a:r>
            <a:r>
              <a:rPr lang="en-US" b="1" dirty="0"/>
              <a:t>Unpivot</a:t>
            </a:r>
            <a:r>
              <a:rPr lang="en-US" dirty="0"/>
              <a:t> are used to transform data in SQL. It is useful in </a:t>
            </a:r>
            <a:r>
              <a:rPr lang="en-US" b="1" dirty="0"/>
              <a:t>reporting and analytics</a:t>
            </a:r>
            <a:r>
              <a:rPr lang="en-US" dirty="0"/>
              <a:t>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 Pivot:</a:t>
            </a:r>
            <a:r>
              <a:rPr lang="en-US" dirty="0"/>
              <a:t> Converts rows into columns.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 Unpivot:</a:t>
            </a:r>
            <a:r>
              <a:rPr lang="en-US" dirty="0"/>
              <a:t> Converts columns into rows.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46CA7A-259E-64AC-C7B0-E07F3B5F5317}"/>
              </a:ext>
            </a:extLst>
          </p:cNvPr>
          <p:cNvSpPr txBox="1"/>
          <p:nvPr/>
        </p:nvSpPr>
        <p:spPr>
          <a:xfrm>
            <a:off x="563525" y="2775971"/>
            <a:ext cx="61243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The </a:t>
            </a:r>
            <a:r>
              <a:rPr lang="en-US" b="1" dirty="0"/>
              <a:t>PIVOT operator</a:t>
            </a:r>
            <a:r>
              <a:rPr lang="en-US" dirty="0"/>
              <a:t> rotates table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Converts </a:t>
            </a:r>
            <a:r>
              <a:rPr lang="en-US" b="1" dirty="0"/>
              <a:t>unique column values into multiple columns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Often used to create </a:t>
            </a:r>
            <a:r>
              <a:rPr lang="en-US" b="1" dirty="0"/>
              <a:t>summary reports</a:t>
            </a:r>
            <a:r>
              <a:rPr lang="en-US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A4DA0C-64E8-EF21-5F34-0BBAD05A46EF}"/>
              </a:ext>
            </a:extLst>
          </p:cNvPr>
          <p:cNvSpPr txBox="1"/>
          <p:nvPr/>
        </p:nvSpPr>
        <p:spPr>
          <a:xfrm>
            <a:off x="685950" y="2375861"/>
            <a:ext cx="612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/>
              <a:t>PIVOT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3DF117-2C43-8C6E-D4D3-0982E3F862DF}"/>
              </a:ext>
            </a:extLst>
          </p:cNvPr>
          <p:cNvSpPr txBox="1"/>
          <p:nvPr/>
        </p:nvSpPr>
        <p:spPr>
          <a:xfrm>
            <a:off x="685950" y="3775960"/>
            <a:ext cx="6001927" cy="258532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b="1" i="1" dirty="0"/>
              <a:t>Syntax:</a:t>
            </a:r>
          </a:p>
          <a:p>
            <a:r>
              <a:rPr lang="en-IN" dirty="0"/>
              <a:t>SELECT &lt;non-pivoted columns&gt;,  </a:t>
            </a:r>
          </a:p>
          <a:p>
            <a:r>
              <a:rPr lang="en-IN" dirty="0"/>
              <a:t>       [FirstColumn], [SecondColumn], ...  </a:t>
            </a:r>
          </a:p>
          <a:p>
            <a:r>
              <a:rPr lang="en-IN" dirty="0"/>
              <a:t>FROM &lt;TableName&gt;  </a:t>
            </a:r>
          </a:p>
          <a:p>
            <a:r>
              <a:rPr lang="en-IN" dirty="0"/>
              <a:t>PIVOT (  </a:t>
            </a:r>
          </a:p>
          <a:p>
            <a:r>
              <a:rPr lang="en-IN" dirty="0"/>
              <a:t>    AGG_FUNCTION(&lt;column_to_aggregate&gt;)  </a:t>
            </a:r>
          </a:p>
          <a:p>
            <a:r>
              <a:rPr lang="en-IN" dirty="0"/>
              <a:t>    FOR &lt;column_to_convert_into_headers&gt; IN ([FirstColumn], [SecondColumn], ...)  </a:t>
            </a:r>
          </a:p>
          <a:p>
            <a:r>
              <a:rPr lang="en-IN" dirty="0"/>
              <a:t>) AS PivotTable;</a:t>
            </a:r>
          </a:p>
        </p:txBody>
      </p:sp>
    </p:spTree>
    <p:extLst>
      <p:ext uri="{BB962C8B-B14F-4D97-AF65-F5344CB8AC3E}">
        <p14:creationId xmlns:p14="http://schemas.microsoft.com/office/powerpoint/2010/main" val="11591880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10C33-5556-D477-3EAF-49F6EDC87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BE51638-547D-39A9-2E33-4E416F752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Pivot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4D8200A-33E2-85F4-F3D0-606E881DA39F}"/>
              </a:ext>
            </a:extLst>
          </p:cNvPr>
          <p:cNvGraphicFramePr>
            <a:graphicFrameLocks noGrp="1"/>
          </p:cNvGraphicFramePr>
          <p:nvPr/>
        </p:nvGraphicFramePr>
        <p:xfrm>
          <a:off x="685950" y="1350739"/>
          <a:ext cx="10515600" cy="16764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41026087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0026728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543142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Year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Amount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0784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2023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Pen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63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2023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Book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563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2024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Pen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150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717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2024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Book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250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311291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D7194C0-BEE1-DF7A-A843-1457871E17CA}"/>
              </a:ext>
            </a:extLst>
          </p:cNvPr>
          <p:cNvSpPr txBox="1"/>
          <p:nvPr/>
        </p:nvSpPr>
        <p:spPr>
          <a:xfrm>
            <a:off x="600890" y="1012185"/>
            <a:ext cx="6124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Sample Table: Sales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0203BC-DE99-40AA-8046-63FCD0C78328}"/>
              </a:ext>
            </a:extLst>
          </p:cNvPr>
          <p:cNvSpPr txBox="1"/>
          <p:nvPr/>
        </p:nvSpPr>
        <p:spPr>
          <a:xfrm>
            <a:off x="1377067" y="3265509"/>
            <a:ext cx="3173669" cy="16004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dirty="0"/>
              <a:t>SELECT Year, [Pen], [Book]</a:t>
            </a:r>
          </a:p>
          <a:p>
            <a:r>
              <a:rPr lang="en-US" sz="1600" dirty="0"/>
              <a:t>FROM Sales</a:t>
            </a:r>
          </a:p>
          <a:p>
            <a:r>
              <a:rPr lang="en-US" sz="1600" dirty="0"/>
              <a:t>PIVOT (</a:t>
            </a:r>
          </a:p>
          <a:p>
            <a:r>
              <a:rPr lang="en-US" sz="1600" dirty="0"/>
              <a:t>    SUM(Amount) </a:t>
            </a:r>
          </a:p>
          <a:p>
            <a:r>
              <a:rPr lang="en-US" sz="1600" dirty="0"/>
              <a:t>    FOR Product IN ([Pen], [Book])</a:t>
            </a:r>
          </a:p>
          <a:p>
            <a:r>
              <a:rPr lang="en-US" sz="1600" dirty="0"/>
              <a:t>) AS PivotTable;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4CE07CD-E87C-8AC2-F172-26E272AE94A1}"/>
              </a:ext>
            </a:extLst>
          </p:cNvPr>
          <p:cNvGraphicFramePr>
            <a:graphicFrameLocks noGrp="1"/>
          </p:cNvGraphicFramePr>
          <p:nvPr/>
        </p:nvGraphicFramePr>
        <p:xfrm>
          <a:off x="670150" y="5280463"/>
          <a:ext cx="10515600" cy="10058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55977152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4513396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829129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Year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Pen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Book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2511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2023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5709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2024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150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250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7559698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255D46A1-CB10-AEA4-3536-9A9AF213AC00}"/>
              </a:ext>
            </a:extLst>
          </p:cNvPr>
          <p:cNvSpPr txBox="1"/>
          <p:nvPr/>
        </p:nvSpPr>
        <p:spPr>
          <a:xfrm>
            <a:off x="600890" y="3178337"/>
            <a:ext cx="6124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Query: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883C53-2147-73E5-C0CE-DEB2026B88F6}"/>
              </a:ext>
            </a:extLst>
          </p:cNvPr>
          <p:cNvSpPr txBox="1"/>
          <p:nvPr/>
        </p:nvSpPr>
        <p:spPr>
          <a:xfrm>
            <a:off x="600890" y="4953119"/>
            <a:ext cx="6124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4143872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90517-DD8E-9B36-9C27-8D35D11CE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504B1E1D-681D-5732-0D54-855E328DE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Unpivot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73093D-90D7-921B-7810-82BE099B06EE}"/>
              </a:ext>
            </a:extLst>
          </p:cNvPr>
          <p:cNvSpPr txBox="1"/>
          <p:nvPr/>
        </p:nvSpPr>
        <p:spPr>
          <a:xfrm>
            <a:off x="563525" y="1012185"/>
            <a:ext cx="612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/>
              <a:t>UNPIVOT</a:t>
            </a:r>
            <a:endParaRPr lang="en-IN" sz="2000" b="1" u="sn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EE37D7-A73D-EE03-D78E-AFB0F4785D7D}"/>
              </a:ext>
            </a:extLst>
          </p:cNvPr>
          <p:cNvSpPr txBox="1"/>
          <p:nvPr/>
        </p:nvSpPr>
        <p:spPr>
          <a:xfrm>
            <a:off x="685950" y="2693381"/>
            <a:ext cx="6001927" cy="175432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dirty="0"/>
              <a:t>SELECT &lt;non-unpivoted columns&gt;,  </a:t>
            </a:r>
          </a:p>
          <a:p>
            <a:r>
              <a:rPr lang="en-IN" dirty="0"/>
              <a:t>       ColumnName, Value  </a:t>
            </a:r>
          </a:p>
          <a:p>
            <a:r>
              <a:rPr lang="en-IN" dirty="0"/>
              <a:t>FROM &lt;TableName&gt;  </a:t>
            </a:r>
          </a:p>
          <a:p>
            <a:r>
              <a:rPr lang="en-IN" dirty="0"/>
              <a:t>UNPIVOT (  </a:t>
            </a:r>
          </a:p>
          <a:p>
            <a:r>
              <a:rPr lang="en-IN" dirty="0"/>
              <a:t>    Value FOR ColumnName IN ([Col1], [Col2], [Col3], ...)  </a:t>
            </a:r>
          </a:p>
          <a:p>
            <a:r>
              <a:rPr lang="en-IN" dirty="0"/>
              <a:t>) AS UnpivotTable;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1F1BA5-B5C7-2C34-9D17-115294589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525" y="1391118"/>
            <a:ext cx="562109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UNPIVOT operator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rotates columns into rows.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Useful when you need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normalized/tabular form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Opposite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PIVOT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304025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07957-CF51-E149-4112-12962B6BC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184B06-371F-350E-0EE8-160215A9B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Unpivot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1FEF67C-0E34-333A-432D-B9E0A68E8718}"/>
              </a:ext>
            </a:extLst>
          </p:cNvPr>
          <p:cNvGraphicFramePr>
            <a:graphicFrameLocks noGrp="1"/>
          </p:cNvGraphicFramePr>
          <p:nvPr/>
        </p:nvGraphicFramePr>
        <p:xfrm>
          <a:off x="978002" y="4620815"/>
          <a:ext cx="10515600" cy="16764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41026087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0026728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543142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Year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Amount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0784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2023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Pen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63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2023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Book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563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2024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Pen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150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717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2024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Book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250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311291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01A15BB-19BF-7E67-426C-BA306E85431C}"/>
              </a:ext>
            </a:extLst>
          </p:cNvPr>
          <p:cNvSpPr txBox="1"/>
          <p:nvPr/>
        </p:nvSpPr>
        <p:spPr>
          <a:xfrm>
            <a:off x="600890" y="1012185"/>
            <a:ext cx="6124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Sample Table: Sales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4201EB-FCE7-7F23-AB1E-5DA89CB1E5B3}"/>
              </a:ext>
            </a:extLst>
          </p:cNvPr>
          <p:cNvSpPr txBox="1"/>
          <p:nvPr/>
        </p:nvSpPr>
        <p:spPr>
          <a:xfrm>
            <a:off x="1515290" y="2712601"/>
            <a:ext cx="3173669" cy="15696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dirty="0"/>
              <a:t>SELECT Year, Product, Amount</a:t>
            </a:r>
          </a:p>
          <a:p>
            <a:r>
              <a:rPr lang="en-US" sz="1600" dirty="0"/>
              <a:t>FROM SalesUnpivot</a:t>
            </a:r>
          </a:p>
          <a:p>
            <a:r>
              <a:rPr lang="en-US" sz="1600" dirty="0"/>
              <a:t>UNPIVOT (</a:t>
            </a:r>
          </a:p>
          <a:p>
            <a:r>
              <a:rPr lang="en-US" sz="1600" dirty="0"/>
              <a:t>    Amount FOR Product IN ([Pen], [Book])</a:t>
            </a:r>
          </a:p>
          <a:p>
            <a:r>
              <a:rPr lang="en-US" sz="1600" dirty="0"/>
              <a:t>) AS UnpivotTable;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1A278A6-C3C7-D24A-8422-8F2CC4E192BA}"/>
              </a:ext>
            </a:extLst>
          </p:cNvPr>
          <p:cNvGraphicFramePr>
            <a:graphicFrameLocks noGrp="1"/>
          </p:cNvGraphicFramePr>
          <p:nvPr/>
        </p:nvGraphicFramePr>
        <p:xfrm>
          <a:off x="831976" y="1432466"/>
          <a:ext cx="10515600" cy="10058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55977152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4513396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829129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Year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Pen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Book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2511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2023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5709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2024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150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250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7559698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082F388D-2E4D-A2CE-886C-6FE0B1039E88}"/>
              </a:ext>
            </a:extLst>
          </p:cNvPr>
          <p:cNvSpPr txBox="1"/>
          <p:nvPr/>
        </p:nvSpPr>
        <p:spPr>
          <a:xfrm>
            <a:off x="600697" y="2616867"/>
            <a:ext cx="6124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Query: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1D4B23-441B-2499-1653-5A9EB6A4E7B9}"/>
              </a:ext>
            </a:extLst>
          </p:cNvPr>
          <p:cNvSpPr txBox="1"/>
          <p:nvPr/>
        </p:nvSpPr>
        <p:spPr>
          <a:xfrm>
            <a:off x="600697" y="4282261"/>
            <a:ext cx="6124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39143013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A3227-3B10-8862-BBF3-7F7AEB81C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B53971D-2810-66C1-0E07-A8FF4592E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Pivot vs Unpivot</a:t>
            </a:r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1E09A9D-B013-F634-908C-1A953589A508}"/>
              </a:ext>
            </a:extLst>
          </p:cNvPr>
          <p:cNvGraphicFramePr>
            <a:graphicFrameLocks noGrp="1"/>
          </p:cNvGraphicFramePr>
          <p:nvPr/>
        </p:nvGraphicFramePr>
        <p:xfrm>
          <a:off x="685950" y="1371600"/>
          <a:ext cx="10515600" cy="41148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29325487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88212401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550554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PIVOT (Rows → Columns)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UNPIVOT (Columns → Rows)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153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Definition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Converts rows into columns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Converts columns into rows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4636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Purpose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To summarize and create cross-tab reports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To normalize denormalized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5642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Transformation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Horizontal (row values become column headers)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Vertical (column headers become row values)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185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Use Case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Reporting, dashboards, aggregated summaries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Data cleaning, ETL, preparing normalized tables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251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Example Input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Year, Product, Amount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Year, Pen, Book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85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Example Output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Year, [Pen], [Book]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Year, Product, Amount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9355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Best For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Displaying summarized data in wide format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Converting wide data back to tall/long format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808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31708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D0D79-F28E-B31C-5975-A0D3CC86F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E059C6-85BA-4084-1DF2-45B8E4F56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2563" y="2392588"/>
            <a:ext cx="10611576" cy="732869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JSON and XML in SQL</a:t>
            </a:r>
          </a:p>
        </p:txBody>
      </p:sp>
    </p:spTree>
    <p:extLst>
      <p:ext uri="{BB962C8B-B14F-4D97-AF65-F5344CB8AC3E}">
        <p14:creationId xmlns:p14="http://schemas.microsoft.com/office/powerpoint/2010/main" val="12524711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06F76D4C-B609-9645-6B56-C8662510D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and XML in SQL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D29711-A0C7-5CB8-9FB8-FEC33F6950EA}"/>
              </a:ext>
            </a:extLst>
          </p:cNvPr>
          <p:cNvSpPr txBox="1"/>
          <p:nvPr/>
        </p:nvSpPr>
        <p:spPr>
          <a:xfrm>
            <a:off x="563525" y="1090135"/>
            <a:ext cx="99627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Modern databases often need to handle </a:t>
            </a:r>
            <a:r>
              <a:rPr lang="en-IN" b="1" dirty="0"/>
              <a:t>semi-structured data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  JSON</a:t>
            </a:r>
            <a:r>
              <a:rPr lang="en-IN" dirty="0"/>
              <a:t> (JavaScript Object Notation) and </a:t>
            </a:r>
            <a:r>
              <a:rPr lang="en-IN" b="1" dirty="0"/>
              <a:t>XML</a:t>
            </a:r>
            <a:r>
              <a:rPr lang="en-IN" dirty="0"/>
              <a:t> (Extensible Markup Language) are widely used formats.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SQL Server and other RDBMSs provide </a:t>
            </a:r>
            <a:r>
              <a:rPr lang="en-IN" b="1" dirty="0"/>
              <a:t>built-in support</a:t>
            </a:r>
            <a:r>
              <a:rPr lang="en-IN" dirty="0"/>
              <a:t> for JSON and XML.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13E60F-C323-6B84-83E0-1ABE25F32F0A}"/>
              </a:ext>
            </a:extLst>
          </p:cNvPr>
          <p:cNvSpPr txBox="1"/>
          <p:nvPr/>
        </p:nvSpPr>
        <p:spPr>
          <a:xfrm>
            <a:off x="563525" y="2690336"/>
            <a:ext cx="61243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JSON stores data in </a:t>
            </a:r>
            <a:r>
              <a:rPr lang="en-US" b="1" dirty="0"/>
              <a:t>key-value pairs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Easy to read and lightweight.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Widely used in </a:t>
            </a:r>
            <a:r>
              <a:rPr lang="en-US" b="1" dirty="0"/>
              <a:t>APIs, web apps, and data exchange</a:t>
            </a:r>
            <a:r>
              <a:rPr lang="en-US" dirty="0"/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6284C1-E04B-4069-DC5C-BD223ACAFF78}"/>
              </a:ext>
            </a:extLst>
          </p:cNvPr>
          <p:cNvSpPr txBox="1"/>
          <p:nvPr/>
        </p:nvSpPr>
        <p:spPr>
          <a:xfrm>
            <a:off x="786809" y="2337505"/>
            <a:ext cx="612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/>
              <a:t>JSON in SQL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A082D9-63FE-5779-E899-9AB0D85B2AE9}"/>
              </a:ext>
            </a:extLst>
          </p:cNvPr>
          <p:cNvSpPr txBox="1"/>
          <p:nvPr/>
        </p:nvSpPr>
        <p:spPr>
          <a:xfrm>
            <a:off x="563525" y="4321315"/>
            <a:ext cx="61243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  OPENJSON()</a:t>
            </a:r>
            <a:r>
              <a:rPr lang="en-IN" dirty="0"/>
              <a:t> – Parses JSON into rows/columns.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  FOR JSON</a:t>
            </a:r>
            <a:r>
              <a:rPr lang="en-IN" dirty="0"/>
              <a:t> – Converts SQL query results into JSON.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  JSON_VALUE()</a:t>
            </a:r>
            <a:r>
              <a:rPr lang="en-IN" dirty="0"/>
              <a:t> – Extracts a single value.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  JSON_QUERY()</a:t>
            </a:r>
            <a:r>
              <a:rPr lang="en-IN" dirty="0"/>
              <a:t> – Extracts an object/array.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  ISJSON()</a:t>
            </a:r>
            <a:r>
              <a:rPr lang="en-IN" dirty="0"/>
              <a:t> – Checks if data is valid JSON.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86151A-BE3A-B747-0228-CF19F2EC2B58}"/>
              </a:ext>
            </a:extLst>
          </p:cNvPr>
          <p:cNvSpPr txBox="1"/>
          <p:nvPr/>
        </p:nvSpPr>
        <p:spPr>
          <a:xfrm>
            <a:off x="786809" y="3921205"/>
            <a:ext cx="612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/>
              <a:t>Common JSON Functions</a:t>
            </a:r>
          </a:p>
        </p:txBody>
      </p:sp>
    </p:spTree>
    <p:extLst>
      <p:ext uri="{BB962C8B-B14F-4D97-AF65-F5344CB8AC3E}">
        <p14:creationId xmlns:p14="http://schemas.microsoft.com/office/powerpoint/2010/main" val="42230376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01E68-D275-61E1-6E48-5B9CC8E44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492A5D-A5C9-7B80-5BC4-781BDDD13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and XML in SQL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9912BC-BFE7-F910-C29C-836CD0472B5A}"/>
              </a:ext>
            </a:extLst>
          </p:cNvPr>
          <p:cNvSpPr txBox="1"/>
          <p:nvPr/>
        </p:nvSpPr>
        <p:spPr>
          <a:xfrm>
            <a:off x="685950" y="1123138"/>
            <a:ext cx="612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Example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48362D-5D52-B22A-5BEE-51A2D7DB06AB}"/>
              </a:ext>
            </a:extLst>
          </p:cNvPr>
          <p:cNvSpPr txBox="1"/>
          <p:nvPr/>
        </p:nvSpPr>
        <p:spPr>
          <a:xfrm>
            <a:off x="1935126" y="1560462"/>
            <a:ext cx="61243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{</a:t>
            </a:r>
          </a:p>
          <a:p>
            <a:r>
              <a:rPr lang="en-US" dirty="0"/>
              <a:t>  "ID": 1,</a:t>
            </a:r>
          </a:p>
          <a:p>
            <a:r>
              <a:rPr lang="en-US" dirty="0"/>
              <a:t>  "Name": “Ananya",</a:t>
            </a:r>
          </a:p>
          <a:p>
            <a:r>
              <a:rPr lang="en-US" dirty="0"/>
              <a:t>  "City": "Ambala"</a:t>
            </a:r>
          </a:p>
          <a:p>
            <a:r>
              <a:rPr lang="en-US" dirty="0"/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2A2ECF-E8BF-26DA-AB3D-E6F28BB8BBCF}"/>
              </a:ext>
            </a:extLst>
          </p:cNvPr>
          <p:cNvSpPr txBox="1"/>
          <p:nvPr/>
        </p:nvSpPr>
        <p:spPr>
          <a:xfrm>
            <a:off x="685950" y="1560462"/>
            <a:ext cx="6124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1" dirty="0"/>
              <a:t>JSON Data: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D54AFF-36A8-83C1-30F4-41434C862BCC}"/>
              </a:ext>
            </a:extLst>
          </p:cNvPr>
          <p:cNvSpPr txBox="1"/>
          <p:nvPr/>
        </p:nvSpPr>
        <p:spPr>
          <a:xfrm>
            <a:off x="2137144" y="3140578"/>
            <a:ext cx="6124352" cy="2031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SELECT *  </a:t>
            </a:r>
          </a:p>
          <a:p>
            <a:r>
              <a:rPr lang="en-US" dirty="0"/>
              <a:t>FROM OPENJSON('{"ID":1,"Name":“Ananya","City":"Ambala"}')  </a:t>
            </a:r>
          </a:p>
          <a:p>
            <a:r>
              <a:rPr lang="en-US" dirty="0"/>
              <a:t>WITH (  </a:t>
            </a:r>
          </a:p>
          <a:p>
            <a:r>
              <a:rPr lang="en-US" dirty="0"/>
              <a:t>   ID INT,  </a:t>
            </a:r>
          </a:p>
          <a:p>
            <a:r>
              <a:rPr lang="en-US" dirty="0"/>
              <a:t>   Name NVARCHAR(50),  </a:t>
            </a:r>
          </a:p>
          <a:p>
            <a:r>
              <a:rPr lang="en-US" dirty="0"/>
              <a:t>   City NVARCHAR(50)  </a:t>
            </a:r>
          </a:p>
          <a:p>
            <a:r>
              <a:rPr lang="en-US" dirty="0"/>
              <a:t>);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42DA199-EDC4-9C22-11AE-2822D854E3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790" y="3037790"/>
            <a:ext cx="146290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Query:</a:t>
            </a:r>
            <a:endParaRPr kumimoji="0" lang="en-US" altLang="en-US" sz="10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87CB75B-A604-2CC7-0DED-6FA0AF85350B}"/>
              </a:ext>
            </a:extLst>
          </p:cNvPr>
          <p:cNvGraphicFramePr>
            <a:graphicFrameLocks noGrp="1"/>
          </p:cNvGraphicFramePr>
          <p:nvPr/>
        </p:nvGraphicFramePr>
        <p:xfrm>
          <a:off x="2047691" y="5392267"/>
          <a:ext cx="7904382" cy="731520"/>
        </p:xfrm>
        <a:graphic>
          <a:graphicData uri="http://schemas.openxmlformats.org/drawingml/2006/table">
            <a:tbl>
              <a:tblPr/>
              <a:tblGrid>
                <a:gridCol w="2634794">
                  <a:extLst>
                    <a:ext uri="{9D8B030D-6E8A-4147-A177-3AD203B41FA5}">
                      <a16:colId xmlns:a16="http://schemas.microsoft.com/office/drawing/2014/main" val="2681404816"/>
                    </a:ext>
                  </a:extLst>
                </a:gridCol>
                <a:gridCol w="2634794">
                  <a:extLst>
                    <a:ext uri="{9D8B030D-6E8A-4147-A177-3AD203B41FA5}">
                      <a16:colId xmlns:a16="http://schemas.microsoft.com/office/drawing/2014/main" val="3465438254"/>
                    </a:ext>
                  </a:extLst>
                </a:gridCol>
                <a:gridCol w="2634794">
                  <a:extLst>
                    <a:ext uri="{9D8B030D-6E8A-4147-A177-3AD203B41FA5}">
                      <a16:colId xmlns:a16="http://schemas.microsoft.com/office/drawing/2014/main" val="28498768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A</a:t>
                      </a:r>
                      <a:r>
                        <a:rPr lang="en-IN" dirty="0" err="1"/>
                        <a:t>nanya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Ambala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610102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9CC0D9BF-FD67-E5C9-4589-387A4D59B4A0}"/>
              </a:ext>
            </a:extLst>
          </p:cNvPr>
          <p:cNvSpPr txBox="1"/>
          <p:nvPr/>
        </p:nvSpPr>
        <p:spPr>
          <a:xfrm>
            <a:off x="685950" y="5289479"/>
            <a:ext cx="612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i="1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7386802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2F145-BA3F-02C9-EA7F-9B3956B12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96C4F9F0-3173-0043-8D70-AA2DDC58B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and XML in SQL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2FECC6-7096-F780-0630-DE675DB15EEF}"/>
              </a:ext>
            </a:extLst>
          </p:cNvPr>
          <p:cNvSpPr txBox="1"/>
          <p:nvPr/>
        </p:nvSpPr>
        <p:spPr>
          <a:xfrm>
            <a:off x="685950" y="1150684"/>
            <a:ext cx="612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/>
              <a:t>XML in SQL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5E3AB4-7037-5CDE-C901-BD93F6FEDE94}"/>
              </a:ext>
            </a:extLst>
          </p:cNvPr>
          <p:cNvSpPr txBox="1"/>
          <p:nvPr/>
        </p:nvSpPr>
        <p:spPr>
          <a:xfrm>
            <a:off x="465394" y="3151733"/>
            <a:ext cx="612435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FOR XML</a:t>
            </a:r>
            <a:r>
              <a:rPr lang="en-IN" dirty="0"/>
              <a:t> – Converts SQL query results into XML.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nodes()</a:t>
            </a:r>
            <a:r>
              <a:rPr lang="en-IN" dirty="0"/>
              <a:t> – Shreds XML into rows.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value()</a:t>
            </a:r>
            <a:r>
              <a:rPr lang="en-IN" dirty="0"/>
              <a:t> – Extracts single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query()</a:t>
            </a:r>
            <a:r>
              <a:rPr lang="en-IN" dirty="0"/>
              <a:t> – Extracts XML fragments.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exist()</a:t>
            </a:r>
            <a:r>
              <a:rPr lang="en-IN" dirty="0"/>
              <a:t> – Checks if a node exists.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CCE83D-57E4-21B2-DF7D-D4A2FF9A3587}"/>
              </a:ext>
            </a:extLst>
          </p:cNvPr>
          <p:cNvSpPr txBox="1"/>
          <p:nvPr/>
        </p:nvSpPr>
        <p:spPr>
          <a:xfrm>
            <a:off x="685950" y="2751623"/>
            <a:ext cx="612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/>
              <a:t>Common XML Functions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17F85E-11F3-8837-38E5-643E24229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287" y="1551059"/>
            <a:ext cx="612545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XML stores data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hierarchy.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Suitable for structured documents.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Used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transfer, configuration, legacy systems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605560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0423B-094C-A0CB-01CD-31F4005BA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BA3B3D5-2F9D-2F7F-642F-0F5A6671F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and XML in SQL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F8D863-3265-256C-6FCF-B61CEB61C207}"/>
              </a:ext>
            </a:extLst>
          </p:cNvPr>
          <p:cNvSpPr txBox="1"/>
          <p:nvPr/>
        </p:nvSpPr>
        <p:spPr>
          <a:xfrm>
            <a:off x="685950" y="1123138"/>
            <a:ext cx="612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Example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DFC5B4-66CA-BB2E-1F73-EBC6BC10A5BB}"/>
              </a:ext>
            </a:extLst>
          </p:cNvPr>
          <p:cNvSpPr txBox="1"/>
          <p:nvPr/>
        </p:nvSpPr>
        <p:spPr>
          <a:xfrm>
            <a:off x="1935126" y="1560462"/>
            <a:ext cx="612435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&lt;Employee&gt;</a:t>
            </a:r>
          </a:p>
          <a:p>
            <a:r>
              <a:rPr lang="en-US" dirty="0"/>
              <a:t>   &lt;ID&gt;1&lt;/ID&gt;</a:t>
            </a:r>
          </a:p>
          <a:p>
            <a:r>
              <a:rPr lang="en-US" dirty="0"/>
              <a:t>   &lt;Name&gt;Ananya&lt;/Name&gt;</a:t>
            </a:r>
          </a:p>
          <a:p>
            <a:r>
              <a:rPr lang="en-US" dirty="0"/>
              <a:t>   &lt;City&gt;Ambala&lt;/City&gt;</a:t>
            </a:r>
          </a:p>
          <a:p>
            <a:r>
              <a:rPr lang="en-US" dirty="0"/>
              <a:t>&lt;/Employee&gt;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344763-5A30-931C-7BC7-D1C4A6508B40}"/>
              </a:ext>
            </a:extLst>
          </p:cNvPr>
          <p:cNvSpPr txBox="1"/>
          <p:nvPr/>
        </p:nvSpPr>
        <p:spPr>
          <a:xfrm>
            <a:off x="685950" y="1560462"/>
            <a:ext cx="6124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1" dirty="0"/>
              <a:t>XML Data: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20CF66-75A9-FD62-B3B8-D59E33AD231E}"/>
              </a:ext>
            </a:extLst>
          </p:cNvPr>
          <p:cNvSpPr txBox="1"/>
          <p:nvPr/>
        </p:nvSpPr>
        <p:spPr>
          <a:xfrm>
            <a:off x="2115879" y="3075004"/>
            <a:ext cx="6124352" cy="206210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dirty="0"/>
              <a:t>DECLARE @xml XML =  </a:t>
            </a:r>
          </a:p>
          <a:p>
            <a:r>
              <a:rPr lang="en-US" sz="1600" dirty="0"/>
              <a:t>'&lt;Employee&gt;&lt;ID&gt;1&lt;/ID&gt;&lt;Name&gt;Ananya&lt;/Name&gt;&lt;City&gt;Ambala&lt;/City&gt;&lt;/Employee&gt;';  </a:t>
            </a:r>
          </a:p>
          <a:p>
            <a:endParaRPr lang="en-US" sz="1600" dirty="0"/>
          </a:p>
          <a:p>
            <a:r>
              <a:rPr lang="en-US" sz="1600" dirty="0"/>
              <a:t>SELECT  </a:t>
            </a:r>
          </a:p>
          <a:p>
            <a:r>
              <a:rPr lang="en-US" sz="1600" dirty="0"/>
              <a:t>   @xml.value('(/Employee/ID)[1]', 'INT') AS ID,  </a:t>
            </a:r>
          </a:p>
          <a:p>
            <a:r>
              <a:rPr lang="en-US" sz="1600" dirty="0"/>
              <a:t>   @xml.value('(/Employee/Name)[1]', 'NVARCHAR(50)') AS Name,  </a:t>
            </a:r>
          </a:p>
          <a:p>
            <a:r>
              <a:rPr lang="en-US" sz="1600" dirty="0"/>
              <a:t>   @xml.value('(/Employee/City)[1]', 'NVARCHAR(50)') AS City;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028A255A-3E8B-954C-E81D-329AE3F81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790" y="2980439"/>
            <a:ext cx="146290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Query:</a:t>
            </a:r>
            <a:endParaRPr kumimoji="0" lang="en-US" altLang="en-US" sz="10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9643E01-4495-EDC7-0CBC-D8F9612DCD8F}"/>
              </a:ext>
            </a:extLst>
          </p:cNvPr>
          <p:cNvGraphicFramePr>
            <a:graphicFrameLocks noGrp="1"/>
          </p:cNvGraphicFramePr>
          <p:nvPr/>
        </p:nvGraphicFramePr>
        <p:xfrm>
          <a:off x="2047691" y="5392267"/>
          <a:ext cx="7904382" cy="731520"/>
        </p:xfrm>
        <a:graphic>
          <a:graphicData uri="http://schemas.openxmlformats.org/drawingml/2006/table">
            <a:tbl>
              <a:tblPr/>
              <a:tblGrid>
                <a:gridCol w="2634794">
                  <a:extLst>
                    <a:ext uri="{9D8B030D-6E8A-4147-A177-3AD203B41FA5}">
                      <a16:colId xmlns:a16="http://schemas.microsoft.com/office/drawing/2014/main" val="2681404816"/>
                    </a:ext>
                  </a:extLst>
                </a:gridCol>
                <a:gridCol w="2634794">
                  <a:extLst>
                    <a:ext uri="{9D8B030D-6E8A-4147-A177-3AD203B41FA5}">
                      <a16:colId xmlns:a16="http://schemas.microsoft.com/office/drawing/2014/main" val="3465438254"/>
                    </a:ext>
                  </a:extLst>
                </a:gridCol>
                <a:gridCol w="2634794">
                  <a:extLst>
                    <a:ext uri="{9D8B030D-6E8A-4147-A177-3AD203B41FA5}">
                      <a16:colId xmlns:a16="http://schemas.microsoft.com/office/drawing/2014/main" val="28498768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A</a:t>
                      </a:r>
                      <a:r>
                        <a:rPr lang="en-IN" dirty="0" err="1"/>
                        <a:t>nanya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Ambala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610102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338B00A-68AC-C75D-F794-A17796351029}"/>
              </a:ext>
            </a:extLst>
          </p:cNvPr>
          <p:cNvSpPr txBox="1"/>
          <p:nvPr/>
        </p:nvSpPr>
        <p:spPr>
          <a:xfrm>
            <a:off x="584790" y="5169047"/>
            <a:ext cx="612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i="1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1943492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07587-C504-F442-4797-CCF581B17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E48F7-0133-CC48-E813-0CAAB64FC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and XML in SQL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A7D61DE-AF8E-93C6-0780-0573EFD86EE6}"/>
              </a:ext>
            </a:extLst>
          </p:cNvPr>
          <p:cNvGraphicFramePr>
            <a:graphicFrameLocks noGrp="1"/>
          </p:cNvGraphicFramePr>
          <p:nvPr/>
        </p:nvGraphicFramePr>
        <p:xfrm>
          <a:off x="551121" y="1234440"/>
          <a:ext cx="10515600" cy="21945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50968912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61587880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763311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JSON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XML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3042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Data Format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Key-value pairs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Tag-based hierarchical 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6104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Readability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Lightweight, easy to read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Verbose, harder to read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0837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Usage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Modern APIs, web, NoSQL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Legacy systems, configs, SOAP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0797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Storage in SQL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NVARCHAR (text format)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XML data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9377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Functions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OPENJSON, JSON_VALUE, etc.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nodes(), value(), query(), etc.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49985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18E88E0-A153-77E1-28E4-6289FCAA6027}"/>
              </a:ext>
            </a:extLst>
          </p:cNvPr>
          <p:cNvSpPr txBox="1"/>
          <p:nvPr/>
        </p:nvSpPr>
        <p:spPr>
          <a:xfrm>
            <a:off x="551121" y="3791910"/>
            <a:ext cx="612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Conclusion: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DB441E-1A40-FECD-D805-C0597E71095E}"/>
              </a:ext>
            </a:extLst>
          </p:cNvPr>
          <p:cNvSpPr txBox="1"/>
          <p:nvPr/>
        </p:nvSpPr>
        <p:spPr>
          <a:xfrm>
            <a:off x="551121" y="4322433"/>
            <a:ext cx="85716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Both JSON and XML are essential for </a:t>
            </a:r>
            <a:r>
              <a:rPr lang="en-IN" b="1" dirty="0"/>
              <a:t>semi-structured data handling</a:t>
            </a:r>
            <a:r>
              <a:rPr lang="en-IN" dirty="0"/>
              <a:t> in SQL.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JSON</a:t>
            </a:r>
            <a:r>
              <a:rPr lang="en-IN" dirty="0"/>
              <a:t> → preferred for modern APIs and lightweight storage.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XML</a:t>
            </a:r>
            <a:r>
              <a:rPr lang="en-IN" dirty="0"/>
              <a:t> → useful for structured documents and legacy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SQL provides </a:t>
            </a:r>
            <a:r>
              <a:rPr lang="en-IN" b="1" dirty="0"/>
              <a:t>strong support for both</a:t>
            </a:r>
            <a:r>
              <a:rPr lang="en-IN" dirty="0"/>
              <a:t> with built-in functions.</a:t>
            </a:r>
          </a:p>
        </p:txBody>
      </p:sp>
    </p:spTree>
    <p:extLst>
      <p:ext uri="{BB962C8B-B14F-4D97-AF65-F5344CB8AC3E}">
        <p14:creationId xmlns:p14="http://schemas.microsoft.com/office/powerpoint/2010/main" val="6125955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D0D79-F28E-B31C-5975-A0D3CC86F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E059C6-85BA-4084-1DF2-45B8E4F56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2563" y="2392588"/>
            <a:ext cx="10611576" cy="732869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Data Transformations in SQL</a:t>
            </a:r>
          </a:p>
        </p:txBody>
      </p:sp>
    </p:spTree>
    <p:extLst>
      <p:ext uri="{BB962C8B-B14F-4D97-AF65-F5344CB8AC3E}">
        <p14:creationId xmlns:p14="http://schemas.microsoft.com/office/powerpoint/2010/main" val="22777519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06F76D4C-B609-9645-6B56-C8662510D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Transformations in SQL</a:t>
            </a:r>
            <a:endParaRPr lang="en-IN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B6366B1-FFAE-169A-85E1-AB9CF77F89DC}"/>
              </a:ext>
            </a:extLst>
          </p:cNvPr>
          <p:cNvSpPr txBox="1"/>
          <p:nvPr/>
        </p:nvSpPr>
        <p:spPr>
          <a:xfrm>
            <a:off x="584791" y="2012459"/>
            <a:ext cx="612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Why are Data Transformations Important?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69C22F-7330-23DB-51CD-40F9825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791" y="1012185"/>
            <a:ext cx="1102241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is th</a:t>
            </a:r>
            <a:r>
              <a:rPr lang="en-US" altLang="en-US" dirty="0">
                <a:latin typeface="Arial" panose="020B0604020202020204" pitchFamily="34" charset="0"/>
              </a:rPr>
              <a:t>e 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rocess of converting data from one format/structure into another. It </a:t>
            </a:r>
            <a:r>
              <a:rPr lang="en-US" altLang="en-US" dirty="0">
                <a:latin typeface="Arial" panose="020B0604020202020204" pitchFamily="34" charset="0"/>
              </a:rPr>
              <a:t>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elps in cleaning, organizing, and making data useful. Examples: Changing data types, Combining or splitting columns, Aggregating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7DB12D-142C-F3BC-7F90-8B666D84E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791" y="2474123"/>
            <a:ext cx="556024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data consistency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data quality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Prepares data for analytics &amp; reporting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ETL (Extract, Transform, Load)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process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1A859-2FE2-0E61-54AE-C276408E508E}"/>
              </a:ext>
            </a:extLst>
          </p:cNvPr>
          <p:cNvSpPr txBox="1"/>
          <p:nvPr/>
        </p:nvSpPr>
        <p:spPr>
          <a:xfrm>
            <a:off x="584791" y="4494748"/>
            <a:ext cx="612435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Data Cleaning</a:t>
            </a:r>
            <a:r>
              <a:rPr lang="en-IN" dirty="0"/>
              <a:t> – removing duplicates, handling NULLs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Data Aggregation</a:t>
            </a:r>
            <a:r>
              <a:rPr lang="en-IN" dirty="0"/>
              <a:t> – SUM, AVG, COUNT, MIN, MAX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Data Filtering</a:t>
            </a:r>
            <a:r>
              <a:rPr lang="en-IN" dirty="0"/>
              <a:t> – WHERE, HAVING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Data Joining</a:t>
            </a:r>
            <a:r>
              <a:rPr lang="en-IN" dirty="0"/>
              <a:t> – JOINs to combine tables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Data Restructuring</a:t>
            </a:r>
            <a:r>
              <a:rPr lang="en-IN" dirty="0"/>
              <a:t> – PIVOT &amp; UNPIVOT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Data Conversion</a:t>
            </a:r>
            <a:r>
              <a:rPr lang="en-IN" dirty="0"/>
              <a:t> – CAST, CONVERT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2A5988-CFB9-A4D0-52C8-B4877CCDD9D9}"/>
              </a:ext>
            </a:extLst>
          </p:cNvPr>
          <p:cNvSpPr txBox="1"/>
          <p:nvPr/>
        </p:nvSpPr>
        <p:spPr>
          <a:xfrm>
            <a:off x="584791" y="3884545"/>
            <a:ext cx="612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Types of Data Transformations in SQL</a:t>
            </a:r>
            <a:endParaRPr lang="en-IN" sz="20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5372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59BB2-BC3F-257B-BF7C-08ED9AFEF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54DC6897-7912-9ADE-B990-F05A2FD31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Transformations in SQL</a:t>
            </a:r>
            <a:endParaRPr lang="en-IN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51EFA60-EB55-3820-7747-771E8F496DE8}"/>
              </a:ext>
            </a:extLst>
          </p:cNvPr>
          <p:cNvSpPr txBox="1"/>
          <p:nvPr/>
        </p:nvSpPr>
        <p:spPr>
          <a:xfrm>
            <a:off x="1734644" y="1152844"/>
            <a:ext cx="612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Data Cleaning Example</a:t>
            </a:r>
            <a:endParaRPr lang="en-IN" sz="20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1B2BCC-9ADB-A294-E47D-0A15FE632C6A}"/>
              </a:ext>
            </a:extLst>
          </p:cNvPr>
          <p:cNvSpPr txBox="1"/>
          <p:nvPr/>
        </p:nvSpPr>
        <p:spPr>
          <a:xfrm>
            <a:off x="584791" y="1633089"/>
            <a:ext cx="5433237" cy="9233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SELECT DISTINCT customer_id, UPPER(customer_name)</a:t>
            </a:r>
          </a:p>
          <a:p>
            <a:r>
              <a:rPr lang="en-US" dirty="0"/>
              <a:t>FROM Customers</a:t>
            </a:r>
          </a:p>
          <a:p>
            <a:r>
              <a:rPr lang="en-US" dirty="0"/>
              <a:t>WHERE email IS NOT NULL;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641D1DE9-0E2B-71BD-63DC-8DF35D20A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363" y="2556419"/>
            <a:ext cx="2996333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Removes duplicates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Converts names to uppercase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Excludes rows with missing emails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76455C-CD0A-2BFC-324B-B1DECC2E62DE}"/>
              </a:ext>
            </a:extLst>
          </p:cNvPr>
          <p:cNvSpPr txBox="1"/>
          <p:nvPr/>
        </p:nvSpPr>
        <p:spPr>
          <a:xfrm>
            <a:off x="7640827" y="1122582"/>
            <a:ext cx="612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Data Aggregation Example</a:t>
            </a:r>
            <a:endParaRPr lang="en-IN" sz="20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AC58E9-2B5D-3DA6-64FF-B28B2A988F9F}"/>
              </a:ext>
            </a:extLst>
          </p:cNvPr>
          <p:cNvSpPr txBox="1"/>
          <p:nvPr/>
        </p:nvSpPr>
        <p:spPr>
          <a:xfrm>
            <a:off x="6563833" y="1633089"/>
            <a:ext cx="5433237" cy="9233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SELECT DISTINCT customer_id, UPPER(customer_name)</a:t>
            </a:r>
          </a:p>
          <a:p>
            <a:r>
              <a:rPr lang="en-US" dirty="0"/>
              <a:t>FROM Customers</a:t>
            </a:r>
          </a:p>
          <a:p>
            <a:r>
              <a:rPr lang="en-US" dirty="0"/>
              <a:t>WHERE email IS NOT NULL;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2C3B828D-D57E-77C5-C0FE-309A10F683E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480864" y="2556419"/>
            <a:ext cx="669831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Groups by region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Calculates total sales per region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E6E823-9E31-4DEC-927E-10CF4BA025A7}"/>
              </a:ext>
            </a:extLst>
          </p:cNvPr>
          <p:cNvSpPr txBox="1"/>
          <p:nvPr/>
        </p:nvSpPr>
        <p:spPr>
          <a:xfrm>
            <a:off x="584790" y="4218413"/>
            <a:ext cx="5433237" cy="9233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SELECT c.customer_name, o.order_id, o.order_date</a:t>
            </a:r>
          </a:p>
          <a:p>
            <a:r>
              <a:rPr lang="en-US" dirty="0"/>
              <a:t>FROM Customers c</a:t>
            </a:r>
          </a:p>
          <a:p>
            <a:r>
              <a:rPr lang="en-US" dirty="0"/>
              <a:t>JOIN Orders o ON c.customer_id = o.customer_id;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C20456-39B8-932E-9E4B-C6841959AEA5}"/>
              </a:ext>
            </a:extLst>
          </p:cNvPr>
          <p:cNvSpPr txBox="1"/>
          <p:nvPr/>
        </p:nvSpPr>
        <p:spPr>
          <a:xfrm>
            <a:off x="6563833" y="4218413"/>
            <a:ext cx="5433237" cy="2031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SELECT product, </a:t>
            </a:r>
          </a:p>
          <a:p>
            <a:r>
              <a:rPr lang="en-US" dirty="0"/>
              <a:t>       SUM(CASE WHEN year=2023 THEN sales END) AS Sales_2023,</a:t>
            </a:r>
          </a:p>
          <a:p>
            <a:r>
              <a:rPr lang="en-US" dirty="0"/>
              <a:t>       SUM(CASE WHEN year=2024 THEN sales END) AS Sales_2024</a:t>
            </a:r>
          </a:p>
          <a:p>
            <a:r>
              <a:rPr lang="en-US" dirty="0"/>
              <a:t>FROM Sales</a:t>
            </a:r>
          </a:p>
          <a:p>
            <a:r>
              <a:rPr lang="en-US" dirty="0"/>
              <a:t>GROUP BY product;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D04ADB-31A0-4554-4819-A849BFF93FAC}"/>
              </a:ext>
            </a:extLst>
          </p:cNvPr>
          <p:cNvSpPr txBox="1"/>
          <p:nvPr/>
        </p:nvSpPr>
        <p:spPr>
          <a:xfrm>
            <a:off x="2008529" y="3761068"/>
            <a:ext cx="612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Data Joining Example</a:t>
            </a:r>
            <a:endParaRPr lang="en-IN" sz="20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20E64E-5F03-48E1-4E3F-D8ECA990787E}"/>
              </a:ext>
            </a:extLst>
          </p:cNvPr>
          <p:cNvSpPr txBox="1"/>
          <p:nvPr/>
        </p:nvSpPr>
        <p:spPr>
          <a:xfrm>
            <a:off x="7640827" y="3761068"/>
            <a:ext cx="612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Data Restructuring Example</a:t>
            </a:r>
            <a:endParaRPr lang="en-IN" sz="20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5249C153-4864-009F-5103-02F4F52678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363" y="5224911"/>
            <a:ext cx="338746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400" dirty="0">
                <a:latin typeface="Arial" panose="020B0604020202020204" pitchFamily="34" charset="0"/>
              </a:rPr>
              <a:t>Combines customers and orders details.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A7C2E64E-5454-EA49-A71E-44CFD87365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0864" y="6245665"/>
            <a:ext cx="247375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Reshapes rows into columns</a:t>
            </a:r>
          </a:p>
        </p:txBody>
      </p:sp>
    </p:spTree>
    <p:extLst>
      <p:ext uri="{BB962C8B-B14F-4D97-AF65-F5344CB8AC3E}">
        <p14:creationId xmlns:p14="http://schemas.microsoft.com/office/powerpoint/2010/main" val="22969076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53124-050F-C8CD-B517-366BCCB70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347E5-05B4-9AE0-11D9-9666D5293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Transformations in SQL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69F8C1-E5A3-8DA7-8B0A-482F9410EA2B}"/>
              </a:ext>
            </a:extLst>
          </p:cNvPr>
          <p:cNvSpPr txBox="1"/>
          <p:nvPr/>
        </p:nvSpPr>
        <p:spPr>
          <a:xfrm>
            <a:off x="583894" y="1012185"/>
            <a:ext cx="61253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/>
              <a:t>Why Data Transformation is Needed?</a:t>
            </a:r>
            <a:endParaRPr lang="en-IN" sz="2000" b="1" u="sng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3D7E4D8-C401-5961-7998-2AFEE26EE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894" y="1412295"/>
            <a:ext cx="995016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 of ETL Process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Data is collected from multiple sources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Data is cleaned, reshaped, and standardized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Data is stored in a warehouse or database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Levels of Transformation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Syntactic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Changing format (e.g., date format, data type)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Semantic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Ensuring meaning (e.g., standardizing country names: “USA” → “United States”)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Changing shape of data (e.g., pivoting rows into columns)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 Goal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To make raw data reliable, consistent, and analysis-ready.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294F7A-91EC-6EA0-2511-0E4B486E87E5}"/>
              </a:ext>
            </a:extLst>
          </p:cNvPr>
          <p:cNvSpPr txBox="1"/>
          <p:nvPr/>
        </p:nvSpPr>
        <p:spPr>
          <a:xfrm>
            <a:off x="685950" y="4767060"/>
            <a:ext cx="61253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/>
              <a:t>Summary</a:t>
            </a: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14B81B02-7B39-4648-1BD0-458F07312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894" y="5330182"/>
            <a:ext cx="82446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Transformation = Cleaning + Aggregating + Restructuring + Converting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provides multiple functions and clauses for this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step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ETL and Data Warehousing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0075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module11</Template>
  <TotalTime>229</TotalTime>
  <Words>2277</Words>
  <Application>Microsoft Office PowerPoint</Application>
  <PresentationFormat>Widescreen</PresentationFormat>
  <Paragraphs>537</Paragraphs>
  <Slides>29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Arial Unicode MS</vt:lpstr>
      <vt:lpstr>Calibri</vt:lpstr>
      <vt:lpstr>Calibri Light</vt:lpstr>
      <vt:lpstr>Roboto Light</vt:lpstr>
      <vt:lpstr>Roboto Thin</vt:lpstr>
      <vt:lpstr>Wingdings</vt:lpstr>
      <vt:lpstr>Office Theme</vt:lpstr>
      <vt:lpstr>CTE (Common Table Expressions)</vt:lpstr>
      <vt:lpstr>CTE (Common Table Expressions)</vt:lpstr>
      <vt:lpstr>CTE (Common Table Expressions)</vt:lpstr>
      <vt:lpstr>CTE (Common Table Expressions)</vt:lpstr>
      <vt:lpstr>CTE (Common Table Expressions)</vt:lpstr>
      <vt:lpstr>CTE (Common Table Expressions)</vt:lpstr>
      <vt:lpstr>CTE (Common Table Expressions)</vt:lpstr>
      <vt:lpstr>CTE (Common Table Expressions)</vt:lpstr>
      <vt:lpstr>Temporary Tables</vt:lpstr>
      <vt:lpstr>Temporary Tables</vt:lpstr>
      <vt:lpstr>Temporary Tables</vt:lpstr>
      <vt:lpstr>Temporary Tables</vt:lpstr>
      <vt:lpstr>Temporary Tables</vt:lpstr>
      <vt:lpstr>Pivot and Unpivot</vt:lpstr>
      <vt:lpstr>Pivot</vt:lpstr>
      <vt:lpstr>Pivot</vt:lpstr>
      <vt:lpstr>Unpivot</vt:lpstr>
      <vt:lpstr>Unpivot</vt:lpstr>
      <vt:lpstr>Pivot vs Unpivot</vt:lpstr>
      <vt:lpstr>JSON and XML in SQL</vt:lpstr>
      <vt:lpstr>JSON and XML in SQL</vt:lpstr>
      <vt:lpstr>JSON and XML in SQL</vt:lpstr>
      <vt:lpstr>JSON and XML in SQL</vt:lpstr>
      <vt:lpstr>JSON and XML in SQL</vt:lpstr>
      <vt:lpstr>JSON and XML in SQL</vt:lpstr>
      <vt:lpstr>Data Transformations in SQL</vt:lpstr>
      <vt:lpstr>Data Transformations in SQL</vt:lpstr>
      <vt:lpstr>Data Transformations in SQL</vt:lpstr>
      <vt:lpstr>Data Transformations in SQL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Renu  Jindal</dc:creator>
  <cp:lastModifiedBy>Renu  Jindal</cp:lastModifiedBy>
  <cp:revision>1</cp:revision>
  <dcterms:created xsi:type="dcterms:W3CDTF">2025-12-19T04:37:07Z</dcterms:created>
  <dcterms:modified xsi:type="dcterms:W3CDTF">2025-12-19T08:26:52Z</dcterms:modified>
</cp:coreProperties>
</file>